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6"/>
  </p:notesMasterIdLst>
  <p:sldIdLst>
    <p:sldId id="256" r:id="rId2"/>
    <p:sldId id="285" r:id="rId3"/>
    <p:sldId id="286" r:id="rId4"/>
    <p:sldId id="257" r:id="rId5"/>
    <p:sldId id="258" r:id="rId6"/>
    <p:sldId id="284" r:id="rId7"/>
    <p:sldId id="287" r:id="rId8"/>
    <p:sldId id="288" r:id="rId9"/>
    <p:sldId id="289" r:id="rId10"/>
    <p:sldId id="296" r:id="rId11"/>
    <p:sldId id="290" r:id="rId12"/>
    <p:sldId id="292" r:id="rId13"/>
    <p:sldId id="295" r:id="rId14"/>
    <p:sldId id="294" r:id="rId15"/>
  </p:sldIdLst>
  <p:sldSz cx="12192000" cy="6858000"/>
  <p:notesSz cx="6858000" cy="9144000"/>
  <p:embeddedFontLst>
    <p:embeddedFont>
      <p:font typeface="Cambria Math" panose="02040503050406030204" pitchFamily="18" charset="0"/>
      <p:regular r:id="rId17"/>
    </p:embeddedFont>
    <p:embeddedFont>
      <p:font typeface="Poppins" panose="00000500000000000000" pitchFamily="2" charset="0"/>
      <p:regular r:id="rId18"/>
      <p:bold r:id="rId19"/>
      <p:italic r:id="rId20"/>
      <p:boldItalic r:id="rId21"/>
    </p:embeddedFont>
    <p:embeddedFont>
      <p:font typeface="Poppins Light" panose="000004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1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D9A46-7DF8-48F3-A881-292BD03E8F9E}" v="17" dt="2025-09-01T18:47:47.047"/>
    <p1510:client id="{E099DF9C-F2BF-4C23-AB86-EF6C9E337E7A}" v="10" dt="2025-09-02T02:26:32.569"/>
  </p1510:revLst>
</p1510:revInfo>
</file>

<file path=ppt/tableStyles.xml><?xml version="1.0" encoding="utf-8"?>
<a:tblStyleLst xmlns:a="http://schemas.openxmlformats.org/drawingml/2006/main" def="{FD3144D7-8B2B-4DE9-A166-912C19338D24}">
  <a:tblStyle styleId="{FD3144D7-8B2B-4DE9-A166-912C19338D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9D5D6CDF-4875-64E8-9C6C-53E91495980E}"/>
            </a:ext>
          </a:extLst>
        </p:cNvPr>
        <p:cNvGrpSpPr/>
        <p:nvPr/>
      </p:nvGrpSpPr>
      <p:grpSpPr>
        <a:xfrm>
          <a:off x="0" y="0"/>
          <a:ext cx="0" cy="0"/>
          <a:chOff x="0" y="0"/>
          <a:chExt cx="0" cy="0"/>
        </a:xfrm>
      </p:grpSpPr>
      <p:sp>
        <p:nvSpPr>
          <p:cNvPr id="244" name="Google Shape;244;g1eb2014fdb4_1_48:notes">
            <a:extLst>
              <a:ext uri="{FF2B5EF4-FFF2-40B4-BE49-F238E27FC236}">
                <a16:creationId xmlns:a16="http://schemas.microsoft.com/office/drawing/2014/main" id="{9FA7F3FB-986D-1395-A845-834EC69E0E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eb2014fdb4_1_48:notes">
            <a:extLst>
              <a:ext uri="{FF2B5EF4-FFF2-40B4-BE49-F238E27FC236}">
                <a16:creationId xmlns:a16="http://schemas.microsoft.com/office/drawing/2014/main" id="{A130C2C9-AACF-9B9A-3EA2-CAAC57EB8B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135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B161B1F9-74C7-92AD-01B3-9CEF54E72A7E}"/>
            </a:ext>
          </a:extLst>
        </p:cNvPr>
        <p:cNvGrpSpPr/>
        <p:nvPr/>
      </p:nvGrpSpPr>
      <p:grpSpPr>
        <a:xfrm>
          <a:off x="0" y="0"/>
          <a:ext cx="0" cy="0"/>
          <a:chOff x="0" y="0"/>
          <a:chExt cx="0" cy="0"/>
        </a:xfrm>
      </p:grpSpPr>
      <p:sp>
        <p:nvSpPr>
          <p:cNvPr id="237" name="Google Shape;237;g1eb2014fdb4_1_44:notes">
            <a:extLst>
              <a:ext uri="{FF2B5EF4-FFF2-40B4-BE49-F238E27FC236}">
                <a16:creationId xmlns:a16="http://schemas.microsoft.com/office/drawing/2014/main" id="{48980313-EF1B-49DA-4521-01E599B5D9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14fdb4_1_44:notes">
            <a:extLst>
              <a:ext uri="{FF2B5EF4-FFF2-40B4-BE49-F238E27FC236}">
                <a16:creationId xmlns:a16="http://schemas.microsoft.com/office/drawing/2014/main" id="{9D2C8F1F-CAA3-4D57-F3B7-8DB8A37D7C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8561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7a25d7cec6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7a25d7cec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7a25d7cec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DAD758BD-E84C-DF72-B785-776732284197}"/>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FDF310F1-5E37-E112-8C66-AC933FB3EA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BFC03529-98D6-310D-307A-125D1B19E2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7473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EF5AA240-32D7-5F1F-1003-2F98037F5D65}"/>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0E6DDA27-723E-956D-CA80-662BBDC3FC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48F79B88-CF58-957A-7B51-0BB14AC0A5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1731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5EFD232F-04E7-682D-75FE-A3518892EEFD}"/>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54585945-D909-A3A2-1637-04B011D3F1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1CA9872A-D73B-522B-9341-E5CF62261E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6055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5B3A6D79-01B3-3D7B-D43C-71A5C9120891}"/>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087468D9-E707-6904-E8AF-CBDE45B12B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63DD76F9-3051-DD20-DC15-165C510C8C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25263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433089EC-D3DC-2214-DA67-A5FEF3C67E6E}"/>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8C1D9900-057A-AAFB-4372-8E6BA70A0E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B1A6D252-D334-CC7E-1268-7C2308A391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6748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65FF41E4-A06D-B0F3-84D2-E738C7247D02}"/>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9F1D284F-6C85-A01F-F69F-D5D5D236A9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24B0DC47-4504-FBB2-6C8E-EAE5ED5B6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6979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43F7646B-9AFF-3708-56D3-6CA93EC7AA65}"/>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569C27BE-2276-ADE6-1FF2-2D03D253F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24713592-51EF-8846-A975-D1E31E9590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3443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D92523A9-BF77-A65C-D021-8B90854FC2A1}"/>
            </a:ext>
          </a:extLst>
        </p:cNvPr>
        <p:cNvGrpSpPr/>
        <p:nvPr/>
      </p:nvGrpSpPr>
      <p:grpSpPr>
        <a:xfrm>
          <a:off x="0" y="0"/>
          <a:ext cx="0" cy="0"/>
          <a:chOff x="0" y="0"/>
          <a:chExt cx="0" cy="0"/>
        </a:xfrm>
      </p:grpSpPr>
      <p:sp>
        <p:nvSpPr>
          <p:cNvPr id="183" name="Google Shape;183;g37a25d7cec6_0_2:notes">
            <a:extLst>
              <a:ext uri="{FF2B5EF4-FFF2-40B4-BE49-F238E27FC236}">
                <a16:creationId xmlns:a16="http://schemas.microsoft.com/office/drawing/2014/main" id="{BADFED56-3CED-4D07-E257-A7E14E7302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a25d7cec6_0_2:notes">
            <a:extLst>
              <a:ext uri="{FF2B5EF4-FFF2-40B4-BE49-F238E27FC236}">
                <a16:creationId xmlns:a16="http://schemas.microsoft.com/office/drawing/2014/main" id="{7D82656A-82C1-7FE3-7C50-5E41E53526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943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DAF2F40D-54FD-DE7F-7D86-ECD6616B12FE}"/>
            </a:ext>
          </a:extLst>
        </p:cNvPr>
        <p:cNvGrpSpPr/>
        <p:nvPr/>
      </p:nvGrpSpPr>
      <p:grpSpPr>
        <a:xfrm>
          <a:off x="0" y="0"/>
          <a:ext cx="0" cy="0"/>
          <a:chOff x="0" y="0"/>
          <a:chExt cx="0" cy="0"/>
        </a:xfrm>
      </p:grpSpPr>
      <p:sp>
        <p:nvSpPr>
          <p:cNvPr id="244" name="Google Shape;244;g1eb2014fdb4_1_48:notes">
            <a:extLst>
              <a:ext uri="{FF2B5EF4-FFF2-40B4-BE49-F238E27FC236}">
                <a16:creationId xmlns:a16="http://schemas.microsoft.com/office/drawing/2014/main" id="{96C34B91-BE34-D354-7034-F4EA22A1BA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eb2014fdb4_1_48:notes">
            <a:extLst>
              <a:ext uri="{FF2B5EF4-FFF2-40B4-BE49-F238E27FC236}">
                <a16:creationId xmlns:a16="http://schemas.microsoft.com/office/drawing/2014/main" id="{8B153C88-2E8C-24C5-B609-0EC3A685E0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4675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0"/>
        <p:cNvGrpSpPr/>
        <p:nvPr/>
      </p:nvGrpSpPr>
      <p:grpSpPr>
        <a:xfrm>
          <a:off x="0" y="0"/>
          <a:ext cx="0" cy="0"/>
          <a:chOff x="0" y="0"/>
          <a:chExt cx="0" cy="0"/>
        </a:xfrm>
      </p:grpSpPr>
      <p:sp>
        <p:nvSpPr>
          <p:cNvPr id="11" name="Google Shape;11;p2"/>
          <p:cNvSpPr/>
          <p:nvPr/>
        </p:nvSpPr>
        <p:spPr>
          <a:xfrm>
            <a:off x="1771650" y="1043125"/>
            <a:ext cx="8648700" cy="3927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2" name="Google Shape;12;p2"/>
          <p:cNvSpPr txBox="1">
            <a:spLocks noGrp="1"/>
          </p:cNvSpPr>
          <p:nvPr>
            <p:ph type="ctrTitle"/>
          </p:nvPr>
        </p:nvSpPr>
        <p:spPr>
          <a:xfrm>
            <a:off x="1771650" y="1880125"/>
            <a:ext cx="8648700" cy="22536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lt1"/>
              </a:buClr>
              <a:buSzPts val="6900"/>
              <a:buNone/>
              <a:defRPr sz="5510">
                <a:solidFill>
                  <a:schemeClr val="lt1"/>
                </a:solidFill>
              </a:defRPr>
            </a:lvl1pPr>
            <a:lvl2pPr lvl="1" algn="ctr">
              <a:spcBef>
                <a:spcPts val="0"/>
              </a:spcBef>
              <a:spcAft>
                <a:spcPts val="0"/>
              </a:spcAft>
              <a:buClr>
                <a:schemeClr val="lt1"/>
              </a:buClr>
              <a:buSzPts val="6900"/>
              <a:buNone/>
              <a:defRPr sz="6900">
                <a:solidFill>
                  <a:schemeClr val="lt1"/>
                </a:solidFill>
              </a:defRPr>
            </a:lvl2pPr>
            <a:lvl3pPr lvl="2" algn="ctr">
              <a:spcBef>
                <a:spcPts val="0"/>
              </a:spcBef>
              <a:spcAft>
                <a:spcPts val="0"/>
              </a:spcAft>
              <a:buClr>
                <a:schemeClr val="lt1"/>
              </a:buClr>
              <a:buSzPts val="6900"/>
              <a:buNone/>
              <a:defRPr sz="6900">
                <a:solidFill>
                  <a:schemeClr val="lt1"/>
                </a:solidFill>
              </a:defRPr>
            </a:lvl3pPr>
            <a:lvl4pPr lvl="3" algn="ctr">
              <a:spcBef>
                <a:spcPts val="0"/>
              </a:spcBef>
              <a:spcAft>
                <a:spcPts val="0"/>
              </a:spcAft>
              <a:buClr>
                <a:schemeClr val="lt1"/>
              </a:buClr>
              <a:buSzPts val="6900"/>
              <a:buNone/>
              <a:defRPr sz="6900">
                <a:solidFill>
                  <a:schemeClr val="lt1"/>
                </a:solidFill>
              </a:defRPr>
            </a:lvl4pPr>
            <a:lvl5pPr lvl="4" algn="ctr">
              <a:spcBef>
                <a:spcPts val="0"/>
              </a:spcBef>
              <a:spcAft>
                <a:spcPts val="0"/>
              </a:spcAft>
              <a:buClr>
                <a:schemeClr val="lt1"/>
              </a:buClr>
              <a:buSzPts val="6900"/>
              <a:buNone/>
              <a:defRPr sz="6900">
                <a:solidFill>
                  <a:schemeClr val="lt1"/>
                </a:solidFill>
              </a:defRPr>
            </a:lvl5pPr>
            <a:lvl6pPr lvl="5" algn="ctr">
              <a:spcBef>
                <a:spcPts val="0"/>
              </a:spcBef>
              <a:spcAft>
                <a:spcPts val="0"/>
              </a:spcAft>
              <a:buClr>
                <a:schemeClr val="lt1"/>
              </a:buClr>
              <a:buSzPts val="6900"/>
              <a:buNone/>
              <a:defRPr sz="6900">
                <a:solidFill>
                  <a:schemeClr val="lt1"/>
                </a:solidFill>
              </a:defRPr>
            </a:lvl6pPr>
            <a:lvl7pPr lvl="6" algn="ctr">
              <a:spcBef>
                <a:spcPts val="0"/>
              </a:spcBef>
              <a:spcAft>
                <a:spcPts val="0"/>
              </a:spcAft>
              <a:buClr>
                <a:schemeClr val="lt1"/>
              </a:buClr>
              <a:buSzPts val="6900"/>
              <a:buNone/>
              <a:defRPr sz="6900">
                <a:solidFill>
                  <a:schemeClr val="lt1"/>
                </a:solidFill>
              </a:defRPr>
            </a:lvl7pPr>
            <a:lvl8pPr lvl="7" algn="ctr">
              <a:spcBef>
                <a:spcPts val="0"/>
              </a:spcBef>
              <a:spcAft>
                <a:spcPts val="0"/>
              </a:spcAft>
              <a:buClr>
                <a:schemeClr val="lt1"/>
              </a:buClr>
              <a:buSzPts val="6900"/>
              <a:buNone/>
              <a:defRPr sz="6900">
                <a:solidFill>
                  <a:schemeClr val="lt1"/>
                </a:solidFill>
              </a:defRPr>
            </a:lvl8pPr>
            <a:lvl9pPr lvl="8" algn="ctr">
              <a:spcBef>
                <a:spcPts val="0"/>
              </a:spcBef>
              <a:spcAft>
                <a:spcPts val="0"/>
              </a:spcAft>
              <a:buClr>
                <a:schemeClr val="lt1"/>
              </a:buClr>
              <a:buSzPts val="6900"/>
              <a:buNone/>
              <a:defRPr sz="6900">
                <a:solidFill>
                  <a:schemeClr val="lt1"/>
                </a:solidFill>
              </a:defRPr>
            </a:lvl9pPr>
          </a:lstStyle>
          <a:p>
            <a:endParaRPr/>
          </a:p>
        </p:txBody>
      </p:sp>
      <p:sp>
        <p:nvSpPr>
          <p:cNvPr id="13" name="Google Shape;13;p2"/>
          <p:cNvSpPr txBox="1">
            <a:spLocks noGrp="1"/>
          </p:cNvSpPr>
          <p:nvPr>
            <p:ph type="subTitle" idx="1"/>
          </p:nvPr>
        </p:nvSpPr>
        <p:spPr>
          <a:xfrm>
            <a:off x="2086950" y="5336075"/>
            <a:ext cx="8018100" cy="478800"/>
          </a:xfrm>
          <a:prstGeom prst="rect">
            <a:avLst/>
          </a:prstGeom>
        </p:spPr>
        <p:txBody>
          <a:bodyPr spcFirstLastPara="1" wrap="square" lIns="121900" tIns="121900" rIns="121900" bIns="121900" anchor="t" anchorCtr="0">
            <a:normAutofit/>
          </a:bodyPr>
          <a:lstStyle>
            <a:lvl1pPr lvl="0" algn="ctr">
              <a:lnSpc>
                <a:spcPct val="80000"/>
              </a:lnSpc>
              <a:spcBef>
                <a:spcPts val="0"/>
              </a:spcBef>
              <a:spcAft>
                <a:spcPts val="0"/>
              </a:spcAft>
              <a:buClr>
                <a:schemeClr val="lt1"/>
              </a:buClr>
              <a:buSzPts val="3700"/>
              <a:buNone/>
              <a:defRPr sz="1500">
                <a:solidFill>
                  <a:schemeClr val="lt1"/>
                </a:solidFill>
                <a:latin typeface="Poppins"/>
                <a:ea typeface="Poppins"/>
                <a:cs typeface="Poppins"/>
                <a:sym typeface="Poppins"/>
              </a:defRPr>
            </a:lvl1pPr>
            <a:lvl2pPr lvl="1" algn="ctr">
              <a:lnSpc>
                <a:spcPct val="100000"/>
              </a:lnSpc>
              <a:spcBef>
                <a:spcPts val="0"/>
              </a:spcBef>
              <a:spcAft>
                <a:spcPts val="0"/>
              </a:spcAft>
              <a:buClr>
                <a:schemeClr val="lt1"/>
              </a:buClr>
              <a:buSzPts val="3700"/>
              <a:buNone/>
              <a:defRPr sz="3700">
                <a:solidFill>
                  <a:schemeClr val="lt1"/>
                </a:solidFill>
              </a:defRPr>
            </a:lvl2pPr>
            <a:lvl3pPr lvl="2" algn="ctr">
              <a:lnSpc>
                <a:spcPct val="100000"/>
              </a:lnSpc>
              <a:spcBef>
                <a:spcPts val="0"/>
              </a:spcBef>
              <a:spcAft>
                <a:spcPts val="0"/>
              </a:spcAft>
              <a:buClr>
                <a:schemeClr val="lt1"/>
              </a:buClr>
              <a:buSzPts val="3700"/>
              <a:buNone/>
              <a:defRPr sz="3700">
                <a:solidFill>
                  <a:schemeClr val="lt1"/>
                </a:solidFill>
              </a:defRPr>
            </a:lvl3pPr>
            <a:lvl4pPr lvl="3" algn="ctr">
              <a:lnSpc>
                <a:spcPct val="100000"/>
              </a:lnSpc>
              <a:spcBef>
                <a:spcPts val="0"/>
              </a:spcBef>
              <a:spcAft>
                <a:spcPts val="0"/>
              </a:spcAft>
              <a:buClr>
                <a:schemeClr val="lt1"/>
              </a:buClr>
              <a:buSzPts val="3700"/>
              <a:buNone/>
              <a:defRPr sz="3700">
                <a:solidFill>
                  <a:schemeClr val="lt1"/>
                </a:solidFill>
              </a:defRPr>
            </a:lvl4pPr>
            <a:lvl5pPr lvl="4" algn="ctr">
              <a:lnSpc>
                <a:spcPct val="100000"/>
              </a:lnSpc>
              <a:spcBef>
                <a:spcPts val="0"/>
              </a:spcBef>
              <a:spcAft>
                <a:spcPts val="0"/>
              </a:spcAft>
              <a:buClr>
                <a:schemeClr val="lt1"/>
              </a:buClr>
              <a:buSzPts val="3700"/>
              <a:buNone/>
              <a:defRPr sz="3700">
                <a:solidFill>
                  <a:schemeClr val="lt1"/>
                </a:solidFill>
              </a:defRPr>
            </a:lvl5pPr>
            <a:lvl6pPr lvl="5" algn="ctr">
              <a:lnSpc>
                <a:spcPct val="100000"/>
              </a:lnSpc>
              <a:spcBef>
                <a:spcPts val="0"/>
              </a:spcBef>
              <a:spcAft>
                <a:spcPts val="0"/>
              </a:spcAft>
              <a:buClr>
                <a:schemeClr val="lt1"/>
              </a:buClr>
              <a:buSzPts val="3700"/>
              <a:buNone/>
              <a:defRPr sz="3700">
                <a:solidFill>
                  <a:schemeClr val="lt1"/>
                </a:solidFill>
              </a:defRPr>
            </a:lvl6pPr>
            <a:lvl7pPr lvl="6" algn="ctr">
              <a:lnSpc>
                <a:spcPct val="100000"/>
              </a:lnSpc>
              <a:spcBef>
                <a:spcPts val="0"/>
              </a:spcBef>
              <a:spcAft>
                <a:spcPts val="0"/>
              </a:spcAft>
              <a:buClr>
                <a:schemeClr val="lt1"/>
              </a:buClr>
              <a:buSzPts val="3700"/>
              <a:buNone/>
              <a:defRPr sz="3700">
                <a:solidFill>
                  <a:schemeClr val="lt1"/>
                </a:solidFill>
              </a:defRPr>
            </a:lvl7pPr>
            <a:lvl8pPr lvl="7" algn="ctr">
              <a:lnSpc>
                <a:spcPct val="100000"/>
              </a:lnSpc>
              <a:spcBef>
                <a:spcPts val="0"/>
              </a:spcBef>
              <a:spcAft>
                <a:spcPts val="0"/>
              </a:spcAft>
              <a:buClr>
                <a:schemeClr val="lt1"/>
              </a:buClr>
              <a:buSzPts val="3700"/>
              <a:buNone/>
              <a:defRPr sz="3700">
                <a:solidFill>
                  <a:schemeClr val="lt1"/>
                </a:solidFill>
              </a:defRPr>
            </a:lvl8pPr>
            <a:lvl9pPr lvl="8" algn="ctr">
              <a:lnSpc>
                <a:spcPct val="100000"/>
              </a:lnSpc>
              <a:spcBef>
                <a:spcPts val="0"/>
              </a:spcBef>
              <a:spcAft>
                <a:spcPts val="0"/>
              </a:spcAft>
              <a:buClr>
                <a:schemeClr val="lt1"/>
              </a:buClr>
              <a:buSzPts val="3700"/>
              <a:buNone/>
              <a:defRPr sz="3700">
                <a:solidFill>
                  <a:schemeClr val="lt1"/>
                </a:solidFill>
              </a:defRPr>
            </a:lvl9pPr>
          </a:lstStyle>
          <a:p>
            <a:endParaRPr/>
          </a:p>
        </p:txBody>
      </p:sp>
      <p:sp>
        <p:nvSpPr>
          <p:cNvPr id="14" name="Google Shape;14;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p:nvPr/>
        </p:nvSpPr>
        <p:spPr>
          <a:xfrm>
            <a:off x="1007850" y="901089"/>
            <a:ext cx="10176300" cy="4303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7" name="Google Shape;17;p3"/>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52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 name="Google Shape;19;p3"/>
          <p:cNvSpPr txBox="1">
            <a:spLocks noGrp="1"/>
          </p:cNvSpPr>
          <p:nvPr>
            <p:ph type="body" idx="1"/>
          </p:nvPr>
        </p:nvSpPr>
        <p:spPr>
          <a:xfrm>
            <a:off x="1983450" y="3414175"/>
            <a:ext cx="8225100" cy="930900"/>
          </a:xfrm>
          <a:prstGeom prst="rect">
            <a:avLst/>
          </a:prstGeom>
        </p:spPr>
        <p:txBody>
          <a:bodyPr spcFirstLastPara="1" wrap="square" lIns="121900" tIns="121900" rIns="121900" bIns="12190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30200" algn="ctr" rtl="0">
              <a:spcBef>
                <a:spcPts val="0"/>
              </a:spcBef>
              <a:spcAft>
                <a:spcPts val="0"/>
              </a:spcAft>
              <a:buClr>
                <a:schemeClr val="lt1"/>
              </a:buClr>
              <a:buSzPts val="1600"/>
              <a:buChar char="○"/>
              <a:defRPr>
                <a:solidFill>
                  <a:schemeClr val="lt1"/>
                </a:solidFill>
              </a:defRPr>
            </a:lvl2pPr>
            <a:lvl3pPr marL="1371600" lvl="2" indent="-330200" algn="ctr" rtl="0">
              <a:spcBef>
                <a:spcPts val="0"/>
              </a:spcBef>
              <a:spcAft>
                <a:spcPts val="0"/>
              </a:spcAft>
              <a:buClr>
                <a:schemeClr val="lt1"/>
              </a:buClr>
              <a:buSzPts val="1600"/>
              <a:buChar char="■"/>
              <a:defRPr>
                <a:solidFill>
                  <a:schemeClr val="lt1"/>
                </a:solidFill>
              </a:defRPr>
            </a:lvl3pPr>
            <a:lvl4pPr marL="1828800" lvl="3" indent="-330200" algn="ctr" rtl="0">
              <a:spcBef>
                <a:spcPts val="0"/>
              </a:spcBef>
              <a:spcAft>
                <a:spcPts val="0"/>
              </a:spcAft>
              <a:buClr>
                <a:schemeClr val="lt1"/>
              </a:buClr>
              <a:buSzPts val="1600"/>
              <a:buChar char="●"/>
              <a:defRPr>
                <a:solidFill>
                  <a:schemeClr val="lt1"/>
                </a:solidFill>
              </a:defRPr>
            </a:lvl4pPr>
            <a:lvl5pPr marL="2286000" lvl="4" indent="-330200" algn="ctr" rtl="0">
              <a:spcBef>
                <a:spcPts val="0"/>
              </a:spcBef>
              <a:spcAft>
                <a:spcPts val="0"/>
              </a:spcAft>
              <a:buClr>
                <a:schemeClr val="lt1"/>
              </a:buClr>
              <a:buSzPts val="1600"/>
              <a:buChar char="○"/>
              <a:defRPr>
                <a:solidFill>
                  <a:schemeClr val="lt1"/>
                </a:solidFill>
              </a:defRPr>
            </a:lvl5pPr>
            <a:lvl6pPr marL="2743200" lvl="5" indent="-330200" algn="ctr" rtl="0">
              <a:spcBef>
                <a:spcPts val="0"/>
              </a:spcBef>
              <a:spcAft>
                <a:spcPts val="0"/>
              </a:spcAft>
              <a:buClr>
                <a:schemeClr val="lt1"/>
              </a:buClr>
              <a:buSzPts val="1600"/>
              <a:buChar char="■"/>
              <a:defRPr>
                <a:solidFill>
                  <a:schemeClr val="lt1"/>
                </a:solidFill>
              </a:defRPr>
            </a:lvl6pPr>
            <a:lvl7pPr marL="3200400" lvl="6" indent="-330200" algn="ctr" rtl="0">
              <a:spcBef>
                <a:spcPts val="0"/>
              </a:spcBef>
              <a:spcAft>
                <a:spcPts val="0"/>
              </a:spcAft>
              <a:buClr>
                <a:schemeClr val="lt1"/>
              </a:buClr>
              <a:buSzPts val="1600"/>
              <a:buChar char="●"/>
              <a:defRPr>
                <a:solidFill>
                  <a:schemeClr val="lt1"/>
                </a:solidFill>
              </a:defRPr>
            </a:lvl7pPr>
            <a:lvl8pPr marL="3657600" lvl="7" indent="-330200" algn="ctr" rtl="0">
              <a:spcBef>
                <a:spcPts val="0"/>
              </a:spcBef>
              <a:spcAft>
                <a:spcPts val="0"/>
              </a:spcAft>
              <a:buClr>
                <a:schemeClr val="lt1"/>
              </a:buClr>
              <a:buSzPts val="1600"/>
              <a:buChar char="○"/>
              <a:defRPr>
                <a:solidFill>
                  <a:schemeClr val="lt1"/>
                </a:solidFill>
              </a:defRPr>
            </a:lvl8pPr>
            <a:lvl9pPr marL="4114800" lvl="8" indent="-330200" algn="ctr" rtl="0">
              <a:spcBef>
                <a:spcPts val="0"/>
              </a:spcBef>
              <a:spcAft>
                <a:spcPts val="0"/>
              </a:spcAft>
              <a:buClr>
                <a:schemeClr val="lt1"/>
              </a:buClr>
              <a:buSzPts val="1600"/>
              <a:buChar char="■"/>
              <a:defRPr>
                <a:solidFill>
                  <a:schemeClr val="lt1"/>
                </a:solidFill>
              </a:defRPr>
            </a:lvl9pPr>
          </a:lstStyle>
          <a:p>
            <a:endParaRPr/>
          </a:p>
        </p:txBody>
      </p:sp>
      <p:sp>
        <p:nvSpPr>
          <p:cNvPr id="20" name="Google Shape;20;p3"/>
          <p:cNvSpPr/>
          <p:nvPr/>
        </p:nvSpPr>
        <p:spPr>
          <a:xfrm>
            <a:off x="1007855" y="5490700"/>
            <a:ext cx="10176300" cy="466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grpSp>
        <p:nvGrpSpPr>
          <p:cNvPr id="21" name="Google Shape;21;p3"/>
          <p:cNvGrpSpPr/>
          <p:nvPr/>
        </p:nvGrpSpPr>
        <p:grpSpPr>
          <a:xfrm>
            <a:off x="10716438" y="5490700"/>
            <a:ext cx="467700" cy="466200"/>
            <a:chOff x="10716438" y="5490700"/>
            <a:chExt cx="467700" cy="466200"/>
          </a:xfrm>
        </p:grpSpPr>
        <p:sp>
          <p:nvSpPr>
            <p:cNvPr id="22" name="Google Shape;22;p3"/>
            <p:cNvSpPr/>
            <p:nvPr/>
          </p:nvSpPr>
          <p:spPr>
            <a:xfrm>
              <a:off x="10716438" y="5490700"/>
              <a:ext cx="467700" cy="46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3" name="Google Shape;23;p3"/>
            <p:cNvSpPr/>
            <p:nvPr/>
          </p:nvSpPr>
          <p:spPr>
            <a:xfrm>
              <a:off x="10867764" y="559121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373700" y="1949438"/>
            <a:ext cx="9444600" cy="3927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26" name="Google Shape;26;p4"/>
          <p:cNvSpPr txBox="1">
            <a:spLocks noGrp="1"/>
          </p:cNvSpPr>
          <p:nvPr>
            <p:ph type="title"/>
          </p:nvPr>
        </p:nvSpPr>
        <p:spPr>
          <a:xfrm>
            <a:off x="1373700" y="980963"/>
            <a:ext cx="94446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sz="3640">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7" name="Google Shape;27;p4"/>
          <p:cNvSpPr txBox="1">
            <a:spLocks noGrp="1"/>
          </p:cNvSpPr>
          <p:nvPr>
            <p:ph type="body" idx="1"/>
          </p:nvPr>
        </p:nvSpPr>
        <p:spPr>
          <a:xfrm>
            <a:off x="2005575" y="2808513"/>
            <a:ext cx="8180700" cy="26352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28" name="Google Shape;28;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TITLE_AND_TWO_COLUMNS_1_2">
    <p:spTree>
      <p:nvGrpSpPr>
        <p:cNvPr id="1" name="Shape 82"/>
        <p:cNvGrpSpPr/>
        <p:nvPr/>
      </p:nvGrpSpPr>
      <p:grpSpPr>
        <a:xfrm>
          <a:off x="0" y="0"/>
          <a:ext cx="0" cy="0"/>
          <a:chOff x="0" y="0"/>
          <a:chExt cx="0" cy="0"/>
        </a:xfrm>
      </p:grpSpPr>
      <p:sp>
        <p:nvSpPr>
          <p:cNvPr id="83" name="Google Shape;83;p10"/>
          <p:cNvSpPr txBox="1">
            <a:spLocks noGrp="1"/>
          </p:cNvSpPr>
          <p:nvPr>
            <p:ph type="title"/>
          </p:nvPr>
        </p:nvSpPr>
        <p:spPr>
          <a:xfrm>
            <a:off x="850650" y="477013"/>
            <a:ext cx="10490700" cy="76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4" name="Google Shape;84;p10"/>
          <p:cNvSpPr txBox="1">
            <a:spLocks noGrp="1"/>
          </p:cNvSpPr>
          <p:nvPr>
            <p:ph type="body" idx="1"/>
          </p:nvPr>
        </p:nvSpPr>
        <p:spPr>
          <a:xfrm>
            <a:off x="850650" y="2475885"/>
            <a:ext cx="5085300" cy="39051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5" name="Google Shape;85;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0"/>
          <p:cNvSpPr txBox="1">
            <a:spLocks noGrp="1"/>
          </p:cNvSpPr>
          <p:nvPr>
            <p:ph type="subTitle" idx="2"/>
          </p:nvPr>
        </p:nvSpPr>
        <p:spPr>
          <a:xfrm>
            <a:off x="850650" y="1599588"/>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10"/>
          <p:cNvSpPr txBox="1">
            <a:spLocks noGrp="1"/>
          </p:cNvSpPr>
          <p:nvPr>
            <p:ph type="body" idx="3"/>
          </p:nvPr>
        </p:nvSpPr>
        <p:spPr>
          <a:xfrm>
            <a:off x="6256000" y="2475869"/>
            <a:ext cx="5085300" cy="13905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8" name="Google Shape;88;p10"/>
          <p:cNvSpPr txBox="1">
            <a:spLocks noGrp="1"/>
          </p:cNvSpPr>
          <p:nvPr>
            <p:ph type="subTitle" idx="4"/>
          </p:nvPr>
        </p:nvSpPr>
        <p:spPr>
          <a:xfrm>
            <a:off x="6256000" y="1599588"/>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 name="Google Shape;89;p10"/>
          <p:cNvSpPr txBox="1">
            <a:spLocks noGrp="1"/>
          </p:cNvSpPr>
          <p:nvPr>
            <p:ph type="body" idx="5"/>
          </p:nvPr>
        </p:nvSpPr>
        <p:spPr>
          <a:xfrm>
            <a:off x="6256000" y="4990462"/>
            <a:ext cx="5085300" cy="13905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90" name="Google Shape;90;p10"/>
          <p:cNvSpPr txBox="1">
            <a:spLocks noGrp="1"/>
          </p:cNvSpPr>
          <p:nvPr>
            <p:ph type="subTitle" idx="6"/>
          </p:nvPr>
        </p:nvSpPr>
        <p:spPr>
          <a:xfrm>
            <a:off x="6256000" y="4114181"/>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ertificate">
  <p:cSld name="TITLE_AND_TWO_COLUMNS_1_2_1">
    <p:spTree>
      <p:nvGrpSpPr>
        <p:cNvPr id="1" name="Shape 91"/>
        <p:cNvGrpSpPr/>
        <p:nvPr/>
      </p:nvGrpSpPr>
      <p:grpSpPr>
        <a:xfrm>
          <a:off x="0" y="0"/>
          <a:ext cx="0" cy="0"/>
          <a:chOff x="0" y="0"/>
          <a:chExt cx="0" cy="0"/>
        </a:xfrm>
      </p:grpSpPr>
      <p:sp>
        <p:nvSpPr>
          <p:cNvPr id="92" name="Google Shape;92;p11"/>
          <p:cNvSpPr txBox="1">
            <a:spLocks noGrp="1"/>
          </p:cNvSpPr>
          <p:nvPr>
            <p:ph type="title"/>
          </p:nvPr>
        </p:nvSpPr>
        <p:spPr>
          <a:xfrm>
            <a:off x="850650" y="515200"/>
            <a:ext cx="10490700" cy="76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600"/>
              <a:buNone/>
              <a:defRPr sz="6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93" name="Google Shape;93;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1"/>
          <p:cNvSpPr txBox="1">
            <a:spLocks noGrp="1"/>
          </p:cNvSpPr>
          <p:nvPr>
            <p:ph type="subTitle" idx="1"/>
          </p:nvPr>
        </p:nvSpPr>
        <p:spPr>
          <a:xfrm>
            <a:off x="963188" y="54277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cxnSp>
        <p:nvCxnSpPr>
          <p:cNvPr id="95" name="Google Shape;95;p11"/>
          <p:cNvCxnSpPr/>
          <p:nvPr/>
        </p:nvCxnSpPr>
        <p:spPr>
          <a:xfrm>
            <a:off x="1783800" y="3300300"/>
            <a:ext cx="8624400" cy="0"/>
          </a:xfrm>
          <a:prstGeom prst="straightConnector1">
            <a:avLst/>
          </a:prstGeom>
          <a:noFill/>
          <a:ln w="9525" cap="flat" cmpd="sng">
            <a:solidFill>
              <a:schemeClr val="dk1"/>
            </a:solidFill>
            <a:prstDash val="solid"/>
            <a:round/>
            <a:headEnd type="none" w="med" len="med"/>
            <a:tailEnd type="none" w="med" len="med"/>
          </a:ln>
        </p:spPr>
      </p:cxnSp>
      <p:cxnSp>
        <p:nvCxnSpPr>
          <p:cNvPr id="96" name="Google Shape;96;p11"/>
          <p:cNvCxnSpPr/>
          <p:nvPr/>
        </p:nvCxnSpPr>
        <p:spPr>
          <a:xfrm>
            <a:off x="1319438" y="5885275"/>
            <a:ext cx="2986500" cy="0"/>
          </a:xfrm>
          <a:prstGeom prst="straightConnector1">
            <a:avLst/>
          </a:prstGeom>
          <a:noFill/>
          <a:ln w="9525" cap="flat" cmpd="sng">
            <a:solidFill>
              <a:schemeClr val="dk1"/>
            </a:solidFill>
            <a:prstDash val="solid"/>
            <a:round/>
            <a:headEnd type="none" w="med" len="med"/>
            <a:tailEnd type="none" w="med" len="med"/>
          </a:ln>
        </p:spPr>
      </p:cxnSp>
      <p:sp>
        <p:nvSpPr>
          <p:cNvPr id="97" name="Google Shape;97;p11"/>
          <p:cNvSpPr txBox="1">
            <a:spLocks noGrp="1"/>
          </p:cNvSpPr>
          <p:nvPr>
            <p:ph type="subTitle" idx="2"/>
          </p:nvPr>
        </p:nvSpPr>
        <p:spPr>
          <a:xfrm>
            <a:off x="963188" y="58852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98" name="Google Shape;98;p11"/>
          <p:cNvSpPr txBox="1">
            <a:spLocks noGrp="1"/>
          </p:cNvSpPr>
          <p:nvPr>
            <p:ph type="subTitle" idx="3"/>
          </p:nvPr>
        </p:nvSpPr>
        <p:spPr>
          <a:xfrm>
            <a:off x="7529813" y="54277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cxnSp>
        <p:nvCxnSpPr>
          <p:cNvPr id="99" name="Google Shape;99;p11"/>
          <p:cNvCxnSpPr/>
          <p:nvPr/>
        </p:nvCxnSpPr>
        <p:spPr>
          <a:xfrm>
            <a:off x="7886063" y="5885275"/>
            <a:ext cx="2986500" cy="0"/>
          </a:xfrm>
          <a:prstGeom prst="straightConnector1">
            <a:avLst/>
          </a:prstGeom>
          <a:noFill/>
          <a:ln w="9525" cap="flat" cmpd="sng">
            <a:solidFill>
              <a:schemeClr val="dk1"/>
            </a:solidFill>
            <a:prstDash val="solid"/>
            <a:round/>
            <a:headEnd type="none" w="med" len="med"/>
            <a:tailEnd type="none" w="med" len="med"/>
          </a:ln>
        </p:spPr>
      </p:cxnSp>
      <p:sp>
        <p:nvSpPr>
          <p:cNvPr id="100" name="Google Shape;100;p11"/>
          <p:cNvSpPr txBox="1">
            <a:spLocks noGrp="1"/>
          </p:cNvSpPr>
          <p:nvPr>
            <p:ph type="subTitle" idx="4"/>
          </p:nvPr>
        </p:nvSpPr>
        <p:spPr>
          <a:xfrm>
            <a:off x="7529813" y="58852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101" name="Google Shape;101;p11"/>
          <p:cNvSpPr txBox="1">
            <a:spLocks noGrp="1"/>
          </p:cNvSpPr>
          <p:nvPr>
            <p:ph type="subTitle" idx="5"/>
          </p:nvPr>
        </p:nvSpPr>
        <p:spPr>
          <a:xfrm>
            <a:off x="3124958" y="4658763"/>
            <a:ext cx="59421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102" name="Google Shape;102;p11"/>
          <p:cNvSpPr txBox="1">
            <a:spLocks noGrp="1"/>
          </p:cNvSpPr>
          <p:nvPr>
            <p:ph type="title" idx="6"/>
          </p:nvPr>
        </p:nvSpPr>
        <p:spPr>
          <a:xfrm>
            <a:off x="2252850" y="3972088"/>
            <a:ext cx="7686300" cy="6867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03" name="Google Shape;103;p11"/>
          <p:cNvSpPr txBox="1">
            <a:spLocks noGrp="1"/>
          </p:cNvSpPr>
          <p:nvPr>
            <p:ph type="subTitle" idx="7"/>
          </p:nvPr>
        </p:nvSpPr>
        <p:spPr>
          <a:xfrm>
            <a:off x="3124958" y="3514588"/>
            <a:ext cx="59421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a:lvl1pPr>
            <a:lvl2pPr lvl="1" algn="ctr" rtl="0">
              <a:lnSpc>
                <a:spcPct val="100000"/>
              </a:lnSpc>
              <a:spcBef>
                <a:spcPts val="0"/>
              </a:spcBef>
              <a:spcAft>
                <a:spcPts val="0"/>
              </a:spcAft>
              <a:buSzPts val="1300"/>
              <a:buNone/>
              <a:defRPr sz="1300"/>
            </a:lvl2pPr>
            <a:lvl3pPr lvl="2" algn="ctr" rtl="0">
              <a:lnSpc>
                <a:spcPct val="100000"/>
              </a:lnSpc>
              <a:spcBef>
                <a:spcPts val="0"/>
              </a:spcBef>
              <a:spcAft>
                <a:spcPts val="0"/>
              </a:spcAft>
              <a:buSzPts val="1300"/>
              <a:buNone/>
              <a:defRPr sz="1300"/>
            </a:lvl3pPr>
            <a:lvl4pPr lvl="3" algn="ctr" rtl="0">
              <a:lnSpc>
                <a:spcPct val="100000"/>
              </a:lnSpc>
              <a:spcBef>
                <a:spcPts val="0"/>
              </a:spcBef>
              <a:spcAft>
                <a:spcPts val="0"/>
              </a:spcAft>
              <a:buSzPts val="1300"/>
              <a:buNone/>
              <a:defRPr sz="1300"/>
            </a:lvl4pPr>
            <a:lvl5pPr lvl="4" algn="ctr" rtl="0">
              <a:lnSpc>
                <a:spcPct val="100000"/>
              </a:lnSpc>
              <a:spcBef>
                <a:spcPts val="0"/>
              </a:spcBef>
              <a:spcAft>
                <a:spcPts val="0"/>
              </a:spcAft>
              <a:buSzPts val="1300"/>
              <a:buNone/>
              <a:defRPr sz="1300"/>
            </a:lvl5pPr>
            <a:lvl6pPr lvl="5" algn="ctr" rtl="0">
              <a:lnSpc>
                <a:spcPct val="100000"/>
              </a:lnSpc>
              <a:spcBef>
                <a:spcPts val="0"/>
              </a:spcBef>
              <a:spcAft>
                <a:spcPts val="0"/>
              </a:spcAft>
              <a:buSzPts val="1300"/>
              <a:buNone/>
              <a:defRPr sz="1300"/>
            </a:lvl6pPr>
            <a:lvl7pPr lvl="6" algn="ctr" rtl="0">
              <a:lnSpc>
                <a:spcPct val="100000"/>
              </a:lnSpc>
              <a:spcBef>
                <a:spcPts val="0"/>
              </a:spcBef>
              <a:spcAft>
                <a:spcPts val="0"/>
              </a:spcAft>
              <a:buSzPts val="1300"/>
              <a:buNone/>
              <a:defRPr sz="1300"/>
            </a:lvl7pPr>
            <a:lvl8pPr lvl="7" algn="ctr" rtl="0">
              <a:lnSpc>
                <a:spcPct val="100000"/>
              </a:lnSpc>
              <a:spcBef>
                <a:spcPts val="0"/>
              </a:spcBef>
              <a:spcAft>
                <a:spcPts val="0"/>
              </a:spcAft>
              <a:buSzPts val="1300"/>
              <a:buNone/>
              <a:defRPr sz="1300"/>
            </a:lvl8pPr>
            <a:lvl9pPr lvl="8" algn="ctr" rtl="0">
              <a:lnSpc>
                <a:spcPct val="100000"/>
              </a:lnSpc>
              <a:spcBef>
                <a:spcPts val="0"/>
              </a:spcBef>
              <a:spcAft>
                <a:spcPts val="0"/>
              </a:spcAft>
              <a:buSzPts val="1300"/>
              <a:buNone/>
              <a:defRPr sz="1300"/>
            </a:lvl9pPr>
          </a:lstStyle>
          <a:p>
            <a:endParaRPr/>
          </a:p>
        </p:txBody>
      </p:sp>
      <p:sp>
        <p:nvSpPr>
          <p:cNvPr id="104" name="Google Shape;104;p11"/>
          <p:cNvSpPr txBox="1">
            <a:spLocks noGrp="1"/>
          </p:cNvSpPr>
          <p:nvPr>
            <p:ph type="subTitle" idx="8"/>
          </p:nvPr>
        </p:nvSpPr>
        <p:spPr>
          <a:xfrm>
            <a:off x="1783800" y="2538013"/>
            <a:ext cx="8624400" cy="763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4800"/>
              <a:buNone/>
              <a:defRPr sz="5500"/>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145"/>
        <p:cNvGrpSpPr/>
        <p:nvPr/>
      </p:nvGrpSpPr>
      <p:grpSpPr>
        <a:xfrm>
          <a:off x="0" y="0"/>
          <a:ext cx="0" cy="0"/>
          <a:chOff x="0" y="0"/>
          <a:chExt cx="0" cy="0"/>
        </a:xfrm>
      </p:grpSpPr>
      <p:sp>
        <p:nvSpPr>
          <p:cNvPr id="146" name="Google Shape;146;p18"/>
          <p:cNvSpPr/>
          <p:nvPr/>
        </p:nvSpPr>
        <p:spPr>
          <a:xfrm>
            <a:off x="437850" y="384825"/>
            <a:ext cx="11316300" cy="5628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47" name="Google Shape;147;p18"/>
          <p:cNvSpPr txBox="1">
            <a:spLocks noGrp="1"/>
          </p:cNvSpPr>
          <p:nvPr>
            <p:ph type="title"/>
          </p:nvPr>
        </p:nvSpPr>
        <p:spPr>
          <a:xfrm>
            <a:off x="1034675" y="396825"/>
            <a:ext cx="8490300" cy="5581500"/>
          </a:xfrm>
          <a:prstGeom prst="rect">
            <a:avLst/>
          </a:prstGeom>
        </p:spPr>
        <p:txBody>
          <a:bodyPr spcFirstLastPara="1" wrap="square" lIns="121900" tIns="121900" rIns="121900" bIns="121900" anchor="ctr" anchorCtr="0">
            <a:normAutofit/>
          </a:bodyPr>
          <a:lstStyle>
            <a:lvl1pPr lvl="0" rtl="0">
              <a:spcBef>
                <a:spcPts val="0"/>
              </a:spcBef>
              <a:spcAft>
                <a:spcPts val="0"/>
              </a:spcAft>
              <a:buSzPts val="6400"/>
              <a:buNone/>
              <a:defRPr sz="120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a:endParaRPr/>
          </a:p>
        </p:txBody>
      </p:sp>
      <p:sp>
        <p:nvSpPr>
          <p:cNvPr id="148" name="Google Shape;148;p1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1pPr>
            <a:lvl2pPr lvl="1">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2pPr>
            <a:lvl3pPr lvl="2">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3pPr>
            <a:lvl4pPr lvl="3">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4pPr>
            <a:lvl5pPr lvl="4">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5pPr>
            <a:lvl6pPr lvl="5">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6pPr>
            <a:lvl7pPr lvl="6">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7pPr>
            <a:lvl8pPr lvl="7">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8pPr>
            <a:lvl9pPr lvl="8">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1pPr>
            <a:lvl2pPr marL="914400" lvl="1"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2pPr>
            <a:lvl3pPr marL="1371600" lvl="2"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3pPr>
            <a:lvl4pPr marL="1828800" lvl="3"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4pPr>
            <a:lvl5pPr marL="2286000" lvl="4"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5pPr>
            <a:lvl6pPr marL="2743200" lvl="5"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6pPr>
            <a:lvl7pPr marL="3200400" lvl="6"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7pPr>
            <a:lvl8pPr marL="3657600" lvl="7"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8pPr>
            <a:lvl9pPr marL="4114800" lvl="8"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6" r:id="rId4"/>
    <p:sldLayoutId id="2147483657" r:id="rId5"/>
    <p:sldLayoutId id="214748366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3"/>
          <p:cNvSpPr/>
          <p:nvPr/>
        </p:nvSpPr>
        <p:spPr>
          <a:xfrm>
            <a:off x="1771650" y="308025"/>
            <a:ext cx="8758200" cy="605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177" name="Google Shape;177;p23"/>
          <p:cNvSpPr txBox="1">
            <a:spLocks noGrp="1"/>
          </p:cNvSpPr>
          <p:nvPr>
            <p:ph type="ctrTitle"/>
          </p:nvPr>
        </p:nvSpPr>
        <p:spPr>
          <a:xfrm>
            <a:off x="1771650" y="1880125"/>
            <a:ext cx="8648700" cy="22536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SzPts val="990"/>
              <a:buNone/>
            </a:pPr>
            <a:r>
              <a:rPr lang="en" sz="5310" dirty="0"/>
              <a:t>A Wireless Hand Gesture-Controlled Wheelchair For Differently Abled</a:t>
            </a:r>
            <a:endParaRPr sz="5310" dirty="0"/>
          </a:p>
        </p:txBody>
      </p:sp>
      <p:sp>
        <p:nvSpPr>
          <p:cNvPr id="178" name="Google Shape;178;p23"/>
          <p:cNvSpPr txBox="1">
            <a:spLocks noGrp="1"/>
          </p:cNvSpPr>
          <p:nvPr>
            <p:ph type="subTitle" idx="1"/>
          </p:nvPr>
        </p:nvSpPr>
        <p:spPr>
          <a:xfrm>
            <a:off x="2086950" y="434925"/>
            <a:ext cx="8018100" cy="4788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 sz="2200" dirty="0"/>
              <a:t>23ECE381 - Open Lab Review 2</a:t>
            </a:r>
            <a:endParaRPr sz="2200" dirty="0"/>
          </a:p>
        </p:txBody>
      </p:sp>
      <p:sp>
        <p:nvSpPr>
          <p:cNvPr id="179" name="Google Shape;179;p23"/>
          <p:cNvSpPr/>
          <p:nvPr/>
        </p:nvSpPr>
        <p:spPr>
          <a:xfrm>
            <a:off x="9965525" y="308025"/>
            <a:ext cx="564300" cy="605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180" name="Google Shape;180;p23"/>
          <p:cNvSpPr/>
          <p:nvPr/>
        </p:nvSpPr>
        <p:spPr>
          <a:xfrm>
            <a:off x="10120112" y="458875"/>
            <a:ext cx="255137" cy="304006"/>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1" name="Google Shape;181;p23"/>
          <p:cNvSpPr txBox="1">
            <a:spLocks noGrp="1"/>
          </p:cNvSpPr>
          <p:nvPr>
            <p:ph type="body" idx="4294967295"/>
          </p:nvPr>
        </p:nvSpPr>
        <p:spPr>
          <a:xfrm>
            <a:off x="3935310" y="5008685"/>
            <a:ext cx="4651200" cy="1758000"/>
          </a:xfrm>
          <a:prstGeom prst="rect">
            <a:avLst/>
          </a:prstGeom>
        </p:spPr>
        <p:txBody>
          <a:bodyPr spcFirstLastPara="1" wrap="square" lIns="121900" tIns="121900" rIns="121900" bIns="121900" anchor="t" anchorCtr="0">
            <a:noAutofit/>
          </a:bodyPr>
          <a:lstStyle/>
          <a:p>
            <a:pPr marL="0" lvl="0" indent="0" algn="ctr" rtl="0">
              <a:lnSpc>
                <a:spcPct val="95000"/>
              </a:lnSpc>
              <a:spcBef>
                <a:spcPts val="0"/>
              </a:spcBef>
              <a:spcAft>
                <a:spcPts val="0"/>
              </a:spcAft>
              <a:buSzPts val="1018"/>
              <a:buNone/>
            </a:pPr>
            <a:r>
              <a:rPr lang="en" sz="1800" b="1" dirty="0">
                <a:solidFill>
                  <a:schemeClr val="accent5"/>
                </a:solidFill>
                <a:latin typeface="Poppins"/>
                <a:ea typeface="Poppins"/>
                <a:cs typeface="Poppins"/>
                <a:sym typeface="Poppins"/>
              </a:rPr>
              <a:t>Team Members:</a:t>
            </a:r>
            <a:endParaRPr sz="1800" b="1" dirty="0">
              <a:solidFill>
                <a:schemeClr val="accent5"/>
              </a:solidFill>
              <a:latin typeface="Poppins"/>
              <a:ea typeface="Poppins"/>
              <a:cs typeface="Poppins"/>
              <a:sym typeface="Poppins"/>
            </a:endParaRPr>
          </a:p>
          <a:p>
            <a:pPr marL="0" lvl="0" indent="0" algn="ctr" rtl="0">
              <a:lnSpc>
                <a:spcPct val="95000"/>
              </a:lnSpc>
              <a:spcBef>
                <a:spcPts val="1600"/>
              </a:spcBef>
              <a:spcAft>
                <a:spcPts val="0"/>
              </a:spcAft>
              <a:buSzPts val="1018"/>
              <a:buNone/>
            </a:pPr>
            <a:r>
              <a:rPr lang="en" sz="1800" b="1" dirty="0">
                <a:solidFill>
                  <a:schemeClr val="accent5"/>
                </a:solidFill>
                <a:latin typeface="Poppins"/>
                <a:ea typeface="Poppins"/>
                <a:cs typeface="Poppins"/>
                <a:sym typeface="Poppins"/>
              </a:rPr>
              <a:t>Sahithi I -  CB.EN.U4ECE23121</a:t>
            </a:r>
            <a:endParaRPr sz="1800" b="1" dirty="0">
              <a:solidFill>
                <a:schemeClr val="accent5"/>
              </a:solidFill>
              <a:latin typeface="Poppins"/>
              <a:ea typeface="Poppins"/>
              <a:cs typeface="Poppins"/>
              <a:sym typeface="Poppins"/>
            </a:endParaRPr>
          </a:p>
          <a:p>
            <a:pPr marL="0" lvl="0" indent="0" algn="ctr" rtl="0">
              <a:lnSpc>
                <a:spcPct val="95000"/>
              </a:lnSpc>
              <a:spcBef>
                <a:spcPts val="1600"/>
              </a:spcBef>
              <a:spcAft>
                <a:spcPts val="0"/>
              </a:spcAft>
              <a:buSzPts val="1018"/>
              <a:buNone/>
            </a:pPr>
            <a:r>
              <a:rPr lang="en" sz="1800" b="1" dirty="0">
                <a:solidFill>
                  <a:schemeClr val="accent5"/>
                </a:solidFill>
                <a:latin typeface="Poppins"/>
                <a:ea typeface="Poppins"/>
                <a:cs typeface="Poppins"/>
                <a:sym typeface="Poppins"/>
              </a:rPr>
              <a:t>Rithigaa Shree T- CB.EN.U4ECE23132</a:t>
            </a:r>
            <a:endParaRPr sz="1800" b="1" dirty="0">
              <a:solidFill>
                <a:schemeClr val="accent5"/>
              </a:solidFill>
              <a:latin typeface="Poppins"/>
              <a:ea typeface="Poppins"/>
              <a:cs typeface="Poppins"/>
              <a:sym typeface="Poppins"/>
            </a:endParaRPr>
          </a:p>
          <a:p>
            <a:pPr marL="0" lvl="0" indent="0" algn="ctr" rtl="0">
              <a:lnSpc>
                <a:spcPct val="95000"/>
              </a:lnSpc>
              <a:spcBef>
                <a:spcPts val="1600"/>
              </a:spcBef>
              <a:spcAft>
                <a:spcPts val="1600"/>
              </a:spcAft>
              <a:buSzPts val="1018"/>
              <a:buNone/>
            </a:pPr>
            <a:r>
              <a:rPr lang="en" sz="1800" b="1" dirty="0">
                <a:solidFill>
                  <a:schemeClr val="accent5"/>
                </a:solidFill>
                <a:latin typeface="Poppins"/>
                <a:ea typeface="Poppins"/>
                <a:cs typeface="Poppins"/>
                <a:sym typeface="Poppins"/>
              </a:rPr>
              <a:t>Sruthi Sakthivel- CB.EN.U4ECE23143</a:t>
            </a:r>
            <a:endParaRPr sz="1800" b="1" dirty="0">
              <a:solidFill>
                <a:schemeClr val="accent5"/>
              </a:solidFill>
              <a:latin typeface="Poppins"/>
              <a:ea typeface="Poppins"/>
              <a:cs typeface="Poppins"/>
              <a:sym typeface="Poppins"/>
            </a:endParaRPr>
          </a:p>
        </p:txBody>
      </p:sp>
      <p:sp>
        <p:nvSpPr>
          <p:cNvPr id="2" name="Rectangle 1">
            <a:extLst>
              <a:ext uri="{FF2B5EF4-FFF2-40B4-BE49-F238E27FC236}">
                <a16:creationId xmlns:a16="http://schemas.microsoft.com/office/drawing/2014/main" id="{E70003A1-612E-4586-4B77-067007D274B7}"/>
              </a:ext>
            </a:extLst>
          </p:cNvPr>
          <p:cNvSpPr/>
          <p:nvPr/>
        </p:nvSpPr>
        <p:spPr>
          <a:xfrm>
            <a:off x="0" y="5230368"/>
            <a:ext cx="155448" cy="16276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5E36549C-22FD-1D32-2FC5-DB74E049FF09}"/>
            </a:ext>
          </a:extLst>
        </p:cNvPr>
        <p:cNvGrpSpPr/>
        <p:nvPr/>
      </p:nvGrpSpPr>
      <p:grpSpPr>
        <a:xfrm>
          <a:off x="0" y="0"/>
          <a:ext cx="0" cy="0"/>
          <a:chOff x="0" y="0"/>
          <a:chExt cx="0" cy="0"/>
        </a:xfrm>
      </p:grpSpPr>
      <p:sp>
        <p:nvSpPr>
          <p:cNvPr id="247" name="Google Shape;247;p29">
            <a:extLst>
              <a:ext uri="{FF2B5EF4-FFF2-40B4-BE49-F238E27FC236}">
                <a16:creationId xmlns:a16="http://schemas.microsoft.com/office/drawing/2014/main" id="{8432BAC0-F483-9E96-1201-0FBE8B3DFF24}"/>
              </a:ext>
            </a:extLst>
          </p:cNvPr>
          <p:cNvSpPr txBox="1">
            <a:spLocks noGrp="1"/>
          </p:cNvSpPr>
          <p:nvPr>
            <p:ph type="title"/>
          </p:nvPr>
        </p:nvSpPr>
        <p:spPr>
          <a:xfrm>
            <a:off x="1373700" y="980963"/>
            <a:ext cx="9444600" cy="763500"/>
          </a:xfrm>
          <a:prstGeom prst="rect">
            <a:avLst/>
          </a:prstGeom>
        </p:spPr>
        <p:txBody>
          <a:bodyPr spcFirstLastPara="1" wrap="square" lIns="121900" tIns="121900" rIns="121900" bIns="121900" anchor="t" anchorCtr="0">
            <a:noAutofit/>
          </a:bodyPr>
          <a:lstStyle/>
          <a:p>
            <a:pPr>
              <a:buSzPts val="990"/>
            </a:pPr>
            <a:r>
              <a:rPr lang="en" sz="3600" dirty="0"/>
              <a:t>Objectives</a:t>
            </a:r>
          </a:p>
        </p:txBody>
      </p:sp>
      <p:sp>
        <p:nvSpPr>
          <p:cNvPr id="248" name="Google Shape;248;p29">
            <a:extLst>
              <a:ext uri="{FF2B5EF4-FFF2-40B4-BE49-F238E27FC236}">
                <a16:creationId xmlns:a16="http://schemas.microsoft.com/office/drawing/2014/main" id="{B55F7671-A645-0E81-2648-1B5AE084DC97}"/>
              </a:ext>
            </a:extLst>
          </p:cNvPr>
          <p:cNvSpPr txBox="1">
            <a:spLocks noGrp="1"/>
          </p:cNvSpPr>
          <p:nvPr>
            <p:ph type="body" idx="1"/>
          </p:nvPr>
        </p:nvSpPr>
        <p:spPr>
          <a:xfrm>
            <a:off x="1376925" y="1856233"/>
            <a:ext cx="9457050" cy="4016106"/>
          </a:xfrm>
          <a:prstGeom prst="rect">
            <a:avLst/>
          </a:prstGeom>
        </p:spPr>
        <p:txBody>
          <a:bodyPr spcFirstLastPara="1" wrap="square" lIns="121900" tIns="121900" rIns="121900" bIns="121900" anchor="t" anchorCtr="0">
            <a:noAutofit/>
          </a:bodyPr>
          <a:lstStyle/>
          <a:p>
            <a:pPr marL="171450" indent="-171450">
              <a:lnSpc>
                <a:spcPct val="100000"/>
              </a:lnSpc>
              <a:spcAft>
                <a:spcPts val="1600"/>
              </a:spcAft>
              <a:buFont typeface="Arial,Sans-Serif"/>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To develop a low-cost wheelchair control system using tilt switches for hand gesture input, enabling users with limited mobility to navigate easily.</a:t>
            </a:r>
          </a:p>
          <a:p>
            <a:pPr marL="171450" indent="-171450">
              <a:lnSpc>
                <a:spcPct val="100000"/>
              </a:lnSpc>
              <a:spcAft>
                <a:spcPts val="1600"/>
              </a:spcAft>
              <a:buFont typeface="Arial,Sans-Serif"/>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To design a wireless transmission system using NE555 timer ICs, transistors, and LC circuits, avoiding microcontrollers entirely.</a:t>
            </a:r>
          </a:p>
          <a:p>
            <a:pPr marL="171450" indent="-171450">
              <a:lnSpc>
                <a:spcPct val="100000"/>
              </a:lnSpc>
              <a:spcAft>
                <a:spcPts val="1600"/>
              </a:spcAft>
              <a:buFont typeface="Arial,Sans-Serif"/>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To process gesture inputs through diode logic circuits and transmit them wirelessly to the receiver unit.</a:t>
            </a:r>
          </a:p>
          <a:p>
            <a:pPr marL="171450" indent="-171450">
              <a:lnSpc>
                <a:spcPct val="100000"/>
              </a:lnSpc>
              <a:spcAft>
                <a:spcPts val="1600"/>
              </a:spcAft>
              <a:buFont typeface="Arial,Sans-Serif"/>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To implement obstacle avoidance using IR sensors and process signals with logic gates to control motor response automatically.</a:t>
            </a:r>
          </a:p>
          <a:p>
            <a:pPr marL="171450" indent="-171450">
              <a:lnSpc>
                <a:spcPct val="100000"/>
              </a:lnSpc>
              <a:spcAft>
                <a:spcPts val="1600"/>
              </a:spcAft>
              <a:buFont typeface="Arial,Sans-Serif"/>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To include a fall detection unit using tilt/vibration sensors and logic-based interruption to halt motor operation during instability.</a:t>
            </a:r>
          </a:p>
          <a:p>
            <a:pPr marL="0" lvl="0" indent="0" algn="l">
              <a:lnSpc>
                <a:spcPct val="114999"/>
              </a:lnSpc>
              <a:buNone/>
            </a:pPr>
            <a:endParaRPr lang="en" dirty="0"/>
          </a:p>
        </p:txBody>
      </p:sp>
      <p:sp>
        <p:nvSpPr>
          <p:cNvPr id="2" name="Rectangle 1">
            <a:extLst>
              <a:ext uri="{FF2B5EF4-FFF2-40B4-BE49-F238E27FC236}">
                <a16:creationId xmlns:a16="http://schemas.microsoft.com/office/drawing/2014/main" id="{41A3789C-1976-83BA-0B95-6A63F8E255BC}"/>
              </a:ext>
            </a:extLst>
          </p:cNvPr>
          <p:cNvSpPr/>
          <p:nvPr/>
        </p:nvSpPr>
        <p:spPr>
          <a:xfrm>
            <a:off x="0" y="5257800"/>
            <a:ext cx="393192" cy="1600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37758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5CECC12D-3677-B8A7-16BE-2D4BCDA0326A}"/>
            </a:ext>
          </a:extLst>
        </p:cNvPr>
        <p:cNvGrpSpPr/>
        <p:nvPr/>
      </p:nvGrpSpPr>
      <p:grpSpPr>
        <a:xfrm>
          <a:off x="0" y="0"/>
          <a:ext cx="0" cy="0"/>
          <a:chOff x="0" y="0"/>
          <a:chExt cx="0" cy="0"/>
        </a:xfrm>
      </p:grpSpPr>
      <p:sp>
        <p:nvSpPr>
          <p:cNvPr id="240" name="Google Shape;240;p28">
            <a:extLst>
              <a:ext uri="{FF2B5EF4-FFF2-40B4-BE49-F238E27FC236}">
                <a16:creationId xmlns:a16="http://schemas.microsoft.com/office/drawing/2014/main" id="{DFC2C6D6-DAD0-8C66-3ADD-799BB292F9F7}"/>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SzPts val="990"/>
              <a:buNone/>
            </a:pPr>
            <a:r>
              <a:rPr lang="en"/>
              <a:t>We will talk about this first.</a:t>
            </a:r>
            <a:endParaRPr/>
          </a:p>
        </p:txBody>
      </p:sp>
      <p:sp>
        <p:nvSpPr>
          <p:cNvPr id="242" name="Google Shape;242;p28">
            <a:extLst>
              <a:ext uri="{FF2B5EF4-FFF2-40B4-BE49-F238E27FC236}">
                <a16:creationId xmlns:a16="http://schemas.microsoft.com/office/drawing/2014/main" id="{569B0C42-5B18-9399-346B-7ACE063B8B9A}"/>
              </a:ext>
            </a:extLst>
          </p:cNvPr>
          <p:cNvSpPr txBox="1">
            <a:spLocks noGrp="1"/>
          </p:cNvSpPr>
          <p:nvPr>
            <p:ph type="body" idx="1"/>
          </p:nvPr>
        </p:nvSpPr>
        <p:spPr>
          <a:xfrm>
            <a:off x="1983450" y="3414175"/>
            <a:ext cx="8225100" cy="930900"/>
          </a:xfrm>
          <a:prstGeom prst="rect">
            <a:avLst/>
          </a:prstGeom>
        </p:spPr>
        <p:txBody>
          <a:bodyPr spcFirstLastPara="1" wrap="square" lIns="121900" tIns="121900" rIns="121900" bIns="121900" anchor="t" anchorCtr="0">
            <a:normAutofit fontScale="92500" lnSpcReduction="10000"/>
          </a:bodyPr>
          <a:lstStyle/>
          <a:p>
            <a:pPr marL="0" lvl="0" indent="0" algn="l" rtl="0">
              <a:spcBef>
                <a:spcPts val="0"/>
              </a:spcBef>
              <a:spcAft>
                <a:spcPts val="1600"/>
              </a:spcAft>
              <a:buNone/>
            </a:pPr>
            <a:r>
              <a:rPr lang="en"/>
              <a:t>Add a brief introduction of your section here: Let’s dive in and get to know some interesting facts about animals!</a:t>
            </a:r>
            <a:endParaRPr/>
          </a:p>
        </p:txBody>
      </p:sp>
      <p:sp>
        <p:nvSpPr>
          <p:cNvPr id="3" name="TextBox 2">
            <a:extLst>
              <a:ext uri="{FF2B5EF4-FFF2-40B4-BE49-F238E27FC236}">
                <a16:creationId xmlns:a16="http://schemas.microsoft.com/office/drawing/2014/main" id="{942F2C00-72D6-9C8A-87F5-EE6B995660F8}"/>
              </a:ext>
            </a:extLst>
          </p:cNvPr>
          <p:cNvSpPr txBox="1"/>
          <p:nvPr/>
        </p:nvSpPr>
        <p:spPr>
          <a:xfrm>
            <a:off x="4343400" y="0"/>
            <a:ext cx="4946904" cy="646331"/>
          </a:xfrm>
          <a:prstGeom prst="rect">
            <a:avLst/>
          </a:prstGeom>
          <a:noFill/>
        </p:spPr>
        <p:txBody>
          <a:bodyPr wrap="square" rtlCol="0">
            <a:spAutoFit/>
          </a:bodyPr>
          <a:lstStyle/>
          <a:p>
            <a:r>
              <a:rPr lang="en-IN" sz="3600" b="1" dirty="0">
                <a:solidFill>
                  <a:schemeClr val="accent6"/>
                </a:solidFill>
                <a:latin typeface="Poppins" panose="00000500000000000000" pitchFamily="2" charset="0"/>
                <a:cs typeface="Poppins" panose="00000500000000000000" pitchFamily="2" charset="0"/>
              </a:rPr>
              <a:t>Block Diagram</a:t>
            </a:r>
          </a:p>
        </p:txBody>
      </p:sp>
      <p:pic>
        <p:nvPicPr>
          <p:cNvPr id="9" name="Picture 8">
            <a:extLst>
              <a:ext uri="{FF2B5EF4-FFF2-40B4-BE49-F238E27FC236}">
                <a16:creationId xmlns:a16="http://schemas.microsoft.com/office/drawing/2014/main" id="{B5DE22F3-C895-AF7F-6A12-6596289C5EBD}"/>
              </a:ext>
            </a:extLst>
          </p:cNvPr>
          <p:cNvPicPr>
            <a:picLocks noChangeAspect="1"/>
          </p:cNvPicPr>
          <p:nvPr/>
        </p:nvPicPr>
        <p:blipFill>
          <a:blip r:embed="rId3"/>
          <a:stretch>
            <a:fillRect/>
          </a:stretch>
        </p:blipFill>
        <p:spPr>
          <a:xfrm>
            <a:off x="527959" y="646331"/>
            <a:ext cx="11136081" cy="6066937"/>
          </a:xfrm>
          <a:prstGeom prst="rect">
            <a:avLst/>
          </a:prstGeom>
        </p:spPr>
      </p:pic>
      <p:sp>
        <p:nvSpPr>
          <p:cNvPr id="10" name="Rectangle 9">
            <a:extLst>
              <a:ext uri="{FF2B5EF4-FFF2-40B4-BE49-F238E27FC236}">
                <a16:creationId xmlns:a16="http://schemas.microsoft.com/office/drawing/2014/main" id="{D2EDC793-5674-CF25-182B-133753EB46EC}"/>
              </a:ext>
            </a:extLst>
          </p:cNvPr>
          <p:cNvSpPr/>
          <p:nvPr/>
        </p:nvSpPr>
        <p:spPr>
          <a:xfrm>
            <a:off x="0" y="5230368"/>
            <a:ext cx="155448" cy="16276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54047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4"/>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187" name="Google Shape;187;p24"/>
          <p:cNvSpPr txBox="1"/>
          <p:nvPr/>
        </p:nvSpPr>
        <p:spPr>
          <a:xfrm>
            <a:off x="352612" y="1051425"/>
            <a:ext cx="5972100" cy="4857300"/>
          </a:xfrm>
          <a:prstGeom prst="rect">
            <a:avLst/>
          </a:prstGeom>
          <a:noFill/>
          <a:ln>
            <a:noFill/>
          </a:ln>
        </p:spPr>
        <p:txBody>
          <a:bodyPr spcFirstLastPara="1" wrap="square" lIns="91425" tIns="91425" rIns="91425" bIns="91425" anchor="t" anchorCtr="0">
            <a:noAutofit/>
          </a:bodyPr>
          <a:lstStyle/>
          <a:p>
            <a:pPr marL="622300" lvl="0" indent="-307975" algn="l" rtl="0">
              <a:lnSpc>
                <a:spcPct val="115000"/>
              </a:lnSpc>
              <a:spcBef>
                <a:spcPts val="0"/>
              </a:spcBef>
              <a:spcAft>
                <a:spcPts val="0"/>
              </a:spcAft>
              <a:buClr>
                <a:schemeClr val="dk1"/>
              </a:buClr>
              <a:buSzPts val="1250"/>
              <a:buFont typeface="Arial"/>
              <a:buChar char="●"/>
            </a:pPr>
            <a:r>
              <a:rPr lang="en" sz="2400" dirty="0">
                <a:solidFill>
                  <a:schemeClr val="dk1"/>
                </a:solidFill>
                <a:highlight>
                  <a:schemeClr val="lt1"/>
                </a:highlight>
                <a:latin typeface="Calibri"/>
                <a:ea typeface="Calibri"/>
                <a:cs typeface="Calibri"/>
                <a:sym typeface="Calibri"/>
              </a:rPr>
              <a:t>Tilt sensors are used to detect the direction of head tilt by means of a free mass rolling ball inside that either closes or opens a contact between its pins. ​</a:t>
            </a:r>
            <a:endParaRPr sz="2400" dirty="0">
              <a:solidFill>
                <a:schemeClr val="dk1"/>
              </a:solidFill>
              <a:highlight>
                <a:schemeClr val="lt1"/>
              </a:highlight>
              <a:latin typeface="Calibri"/>
              <a:ea typeface="Calibri"/>
              <a:cs typeface="Calibri"/>
              <a:sym typeface="Calibri"/>
            </a:endParaRPr>
          </a:p>
          <a:p>
            <a:pPr marL="457200" lvl="0" indent="0" algn="l" rtl="0">
              <a:lnSpc>
                <a:spcPct val="115000"/>
              </a:lnSpc>
              <a:spcBef>
                <a:spcPts val="0"/>
              </a:spcBef>
              <a:spcAft>
                <a:spcPts val="0"/>
              </a:spcAft>
              <a:buNone/>
            </a:pPr>
            <a:endParaRPr sz="2400" dirty="0">
              <a:solidFill>
                <a:schemeClr val="dk1"/>
              </a:solidFill>
              <a:highlight>
                <a:schemeClr val="lt1"/>
              </a:highlight>
              <a:latin typeface="Calibri"/>
              <a:ea typeface="Calibri"/>
              <a:cs typeface="Calibri"/>
              <a:sym typeface="Calibri"/>
            </a:endParaRPr>
          </a:p>
          <a:p>
            <a:pPr marL="622300" lvl="0" indent="-333375" algn="l" rtl="0">
              <a:lnSpc>
                <a:spcPct val="115000"/>
              </a:lnSpc>
              <a:spcBef>
                <a:spcPts val="0"/>
              </a:spcBef>
              <a:spcAft>
                <a:spcPts val="0"/>
              </a:spcAft>
              <a:buClr>
                <a:schemeClr val="dk1"/>
              </a:buClr>
              <a:buSzPts val="1650"/>
              <a:buFont typeface="Arial"/>
              <a:buChar char="●"/>
            </a:pPr>
            <a:r>
              <a:rPr lang="en" sz="2400" dirty="0">
                <a:solidFill>
                  <a:schemeClr val="dk1"/>
                </a:solidFill>
                <a:highlight>
                  <a:schemeClr val="lt1"/>
                </a:highlight>
                <a:latin typeface="Calibri"/>
                <a:ea typeface="Calibri"/>
                <a:cs typeface="Calibri"/>
                <a:sym typeface="Calibri"/>
              </a:rPr>
              <a:t>Each tilt sensor is just a switch that closes when idle and opens when tilted. One end of each sensor goes to +5 V. The other end of the sensor goes to a 10 kΩ resistor to GND. The node between sensor and resistor is the output signal.</a:t>
            </a:r>
            <a:r>
              <a:rPr lang="en" sz="2800" dirty="0">
                <a:solidFill>
                  <a:schemeClr val="dk1"/>
                </a:solidFill>
                <a:highlight>
                  <a:schemeClr val="lt1"/>
                </a:highlight>
                <a:latin typeface="Calibri"/>
                <a:ea typeface="Calibri"/>
                <a:cs typeface="Calibri"/>
                <a:sym typeface="Calibri"/>
              </a:rPr>
              <a:t>​</a:t>
            </a:r>
            <a:endParaRPr sz="2800" dirty="0">
              <a:solidFill>
                <a:schemeClr val="dk1"/>
              </a:solidFill>
              <a:highlight>
                <a:schemeClr val="lt1"/>
              </a:highlight>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Poppins Light"/>
              <a:ea typeface="Poppins Light"/>
              <a:cs typeface="Poppins Light"/>
              <a:sym typeface="Poppins Light"/>
            </a:endParaRPr>
          </a:p>
        </p:txBody>
      </p:sp>
      <p:pic>
        <p:nvPicPr>
          <p:cNvPr id="5" name="Picture 4">
            <a:extLst>
              <a:ext uri="{FF2B5EF4-FFF2-40B4-BE49-F238E27FC236}">
                <a16:creationId xmlns:a16="http://schemas.microsoft.com/office/drawing/2014/main" id="{9E3E3DD3-AFCE-DD29-D031-41FA52EF93F3}"/>
              </a:ext>
            </a:extLst>
          </p:cNvPr>
          <p:cNvPicPr>
            <a:picLocks noChangeAspect="1"/>
          </p:cNvPicPr>
          <p:nvPr/>
        </p:nvPicPr>
        <p:blipFill>
          <a:blip r:embed="rId3"/>
          <a:stretch>
            <a:fillRect/>
          </a:stretch>
        </p:blipFill>
        <p:spPr>
          <a:xfrm>
            <a:off x="6428231" y="396824"/>
            <a:ext cx="5334443" cy="5647359"/>
          </a:xfrm>
          <a:prstGeom prst="rect">
            <a:avLst/>
          </a:prstGeom>
        </p:spPr>
      </p:pic>
      <p:sp>
        <p:nvSpPr>
          <p:cNvPr id="8" name="Rectangle 7">
            <a:extLst>
              <a:ext uri="{FF2B5EF4-FFF2-40B4-BE49-F238E27FC236}">
                <a16:creationId xmlns:a16="http://schemas.microsoft.com/office/drawing/2014/main" id="{80557550-711C-C1D0-67AB-CCBFAD533FBE}"/>
              </a:ext>
            </a:extLst>
          </p:cNvPr>
          <p:cNvSpPr/>
          <p:nvPr/>
        </p:nvSpPr>
        <p:spPr>
          <a:xfrm>
            <a:off x="438911" y="396824"/>
            <a:ext cx="5989319"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1. Sensor Input</a:t>
            </a:r>
          </a:p>
        </p:txBody>
      </p:sp>
      <p:sp>
        <p:nvSpPr>
          <p:cNvPr id="2" name="Rectangle 1">
            <a:extLst>
              <a:ext uri="{FF2B5EF4-FFF2-40B4-BE49-F238E27FC236}">
                <a16:creationId xmlns:a16="http://schemas.microsoft.com/office/drawing/2014/main" id="{DF57B11E-1691-03B4-9A00-EFA9044A162F}"/>
              </a:ext>
            </a:extLst>
          </p:cNvPr>
          <p:cNvSpPr/>
          <p:nvPr/>
        </p:nvSpPr>
        <p:spPr>
          <a:xfrm>
            <a:off x="0" y="5312664"/>
            <a:ext cx="352612" cy="154533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5"/>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 sz="4400" b="0" dirty="0">
                <a:latin typeface="Arial"/>
                <a:ea typeface="Arial"/>
                <a:cs typeface="Arial"/>
                <a:sym typeface="Arial"/>
              </a:rPr>
              <a:t>2. Transmitter</a:t>
            </a:r>
            <a:endParaRPr dirty="0"/>
          </a:p>
        </p:txBody>
      </p:sp>
      <mc:AlternateContent xmlns:mc="http://schemas.openxmlformats.org/markup-compatibility/2006" xmlns:a14="http://schemas.microsoft.com/office/drawing/2010/main">
        <mc:Choice Requires="a14">
          <p:sp>
            <p:nvSpPr>
              <p:cNvPr id="193" name="Google Shape;193;p25"/>
              <p:cNvSpPr txBox="1"/>
              <p:nvPr/>
            </p:nvSpPr>
            <p:spPr>
              <a:xfrm>
                <a:off x="437390" y="1052337"/>
                <a:ext cx="5556575" cy="5102487"/>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Each sensor output is connected to its own 555 timer-based oscillator. </a:t>
                </a:r>
              </a:p>
              <a:p>
                <a:pPr marL="342900" indent="-342900">
                  <a:buFont typeface="Arial" panose="020B0604020202020204" pitchFamily="34" charset="0"/>
                  <a:buChar char="•"/>
                </a:pPr>
                <a:r>
                  <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rPr>
                  <a:t>The 555 timer is set in astable mode to oscillate at the required frequency (30k, 36k, 40k, 56k Hz).</a:t>
                </a:r>
              </a:p>
              <a:p>
                <a:pPr marL="342900" indent="-342900">
                  <a:buFont typeface="Arial" panose="020B0604020202020204" pitchFamily="34" charset="0"/>
                  <a:buChar char="•"/>
                </a:pPr>
                <a:r>
                  <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rPr>
                  <a:t>Frequency is determined by:</a:t>
                </a:r>
              </a:p>
              <a:p>
                <a:pPr marL="0" indent="0">
                  <a:buNone/>
                </a:pPr>
                <a14:m>
                  <m:oMathPara xmlns:m="http://schemas.openxmlformats.org/officeDocument/2006/math">
                    <m:oMathParaPr>
                      <m:jc m:val="centerGroup"/>
                    </m:oMathParaPr>
                    <m:oMath xmlns:m="http://schemas.openxmlformats.org/officeDocument/2006/math">
                      <m:r>
                        <a:rPr lang="en-IN" sz="2400" i="1">
                          <a:highlight>
                            <a:schemeClr val="lt1"/>
                          </a:highlight>
                          <a:latin typeface="Cambria Math" panose="02040503050406030204" pitchFamily="18" charset="0"/>
                        </a:rPr>
                        <m:t>𝑓</m:t>
                      </m:r>
                      <m:r>
                        <a:rPr lang="en-IN" sz="2400" i="1">
                          <a:highlight>
                            <a:schemeClr val="lt1"/>
                          </a:highlight>
                          <a:latin typeface="Cambria Math" panose="02040503050406030204" pitchFamily="18" charset="0"/>
                        </a:rPr>
                        <m:t>= </m:t>
                      </m:r>
                      <m:f>
                        <m:fPr>
                          <m:ctrlPr>
                            <a:rPr lang="en-IN" sz="2400" i="1">
                              <a:highlight>
                                <a:schemeClr val="lt1"/>
                              </a:highlight>
                              <a:latin typeface="Cambria Math" panose="02040503050406030204" pitchFamily="18" charset="0"/>
                            </a:rPr>
                          </m:ctrlPr>
                        </m:fPr>
                        <m:num>
                          <m:r>
                            <a:rPr lang="en-IN" sz="2400" i="1">
                              <a:highlight>
                                <a:schemeClr val="lt1"/>
                              </a:highlight>
                              <a:latin typeface="Cambria Math" panose="02040503050406030204" pitchFamily="18" charset="0"/>
                            </a:rPr>
                            <m:t>1.45</m:t>
                          </m:r>
                        </m:num>
                        <m:den>
                          <m:r>
                            <a:rPr lang="en-IN" sz="2400" i="1">
                              <a:highlight>
                                <a:schemeClr val="lt1"/>
                              </a:highlight>
                              <a:latin typeface="Cambria Math" panose="02040503050406030204" pitchFamily="18" charset="0"/>
                            </a:rPr>
                            <m:t>(</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𝐴</m:t>
                              </m:r>
                            </m:sub>
                          </m:sSub>
                          <m:r>
                            <a:rPr lang="en-IN" sz="2400" i="1">
                              <a:highlight>
                                <a:schemeClr val="lt1"/>
                              </a:highlight>
                              <a:latin typeface="Cambria Math" panose="02040503050406030204" pitchFamily="18" charset="0"/>
                            </a:rPr>
                            <m:t>+2</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𝐵</m:t>
                              </m:r>
                            </m:sub>
                          </m:sSub>
                          <m:r>
                            <a:rPr lang="en-IN" sz="2400" i="1">
                              <a:highlight>
                                <a:schemeClr val="lt1"/>
                              </a:highlight>
                              <a:latin typeface="Cambria Math" panose="02040503050406030204" pitchFamily="18" charset="0"/>
                            </a:rPr>
                            <m:t>)</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𝐶</m:t>
                              </m:r>
                            </m:e>
                            <m:sub>
                              <m:r>
                                <a:rPr lang="en-IN" sz="2400" i="1">
                                  <a:highlight>
                                    <a:schemeClr val="lt1"/>
                                  </a:highlight>
                                  <a:latin typeface="Cambria Math" panose="02040503050406030204" pitchFamily="18" charset="0"/>
                                </a:rPr>
                                <m:t>1</m:t>
                              </m:r>
                            </m:sub>
                          </m:sSub>
                        </m:den>
                      </m:f>
                    </m:oMath>
                  </m:oMathPara>
                </a14:m>
                <a:endPar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r>
                  <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rPr>
                  <a:t>When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𝐴</m:t>
                        </m:r>
                      </m:sub>
                    </m:sSub>
                    <m:r>
                      <a:rPr lang="en-IN" sz="2400" i="1">
                        <a:highlight>
                          <a:schemeClr val="lt1"/>
                        </a:highlight>
                        <a:latin typeface="Cambria Math" panose="02040503050406030204" pitchFamily="18" charset="0"/>
                      </a:rPr>
                      <m:t>=10</m:t>
                    </m:r>
                    <m:r>
                      <a:rPr lang="en-IN" sz="2400" i="1">
                        <a:highlight>
                          <a:schemeClr val="lt1"/>
                        </a:highlight>
                        <a:latin typeface="Cambria Math" panose="02040503050406030204" pitchFamily="18" charset="0"/>
                      </a:rPr>
                      <m:t>𝑘</m:t>
                    </m:r>
                    <m:r>
                      <m:rPr>
                        <m:sty m:val="p"/>
                      </m:rPr>
                      <a:rPr lang="el-GR" sz="2400" i="1">
                        <a:highlight>
                          <a:schemeClr val="lt1"/>
                        </a:highlight>
                        <a:latin typeface="Cambria Math" panose="02040503050406030204" pitchFamily="18" charset="0"/>
                        <a:ea typeface="Cambria Math" panose="02040503050406030204" pitchFamily="18" charset="0"/>
                      </a:rPr>
                      <m:t>Ω</m:t>
                    </m:r>
                    <m:r>
                      <a:rPr lang="en-IN" sz="2400" i="1">
                        <a:highlight>
                          <a:schemeClr val="lt1"/>
                        </a:highlight>
                        <a:latin typeface="Cambria Math" panose="02040503050406030204" pitchFamily="18" charset="0"/>
                        <a:ea typeface="Cambria Math" panose="02040503050406030204" pitchFamily="18" charset="0"/>
                      </a:rPr>
                      <m:t> </m:t>
                    </m:r>
                    <m:r>
                      <a:rPr lang="en-IN" sz="2400" i="1">
                        <a:highlight>
                          <a:schemeClr val="lt1"/>
                        </a:highlight>
                        <a:latin typeface="Cambria Math" panose="02040503050406030204" pitchFamily="18" charset="0"/>
                        <a:ea typeface="Cambria Math" panose="02040503050406030204" pitchFamily="18" charset="0"/>
                      </a:rPr>
                      <m:t>𝑎𝑛𝑑</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 </m:t>
                        </m:r>
                        <m:r>
                          <a:rPr lang="en-IN" sz="2400" i="1">
                            <a:highlight>
                              <a:schemeClr val="lt1"/>
                            </a:highlight>
                            <a:latin typeface="Cambria Math" panose="02040503050406030204" pitchFamily="18" charset="0"/>
                          </a:rPr>
                          <m:t>𝐶</m:t>
                        </m:r>
                      </m:e>
                      <m:sub>
                        <m:r>
                          <a:rPr lang="en-IN" sz="2400" i="1">
                            <a:highlight>
                              <a:schemeClr val="lt1"/>
                            </a:highlight>
                            <a:latin typeface="Cambria Math" panose="02040503050406030204" pitchFamily="18" charset="0"/>
                          </a:rPr>
                          <m:t>1</m:t>
                        </m:r>
                      </m:sub>
                    </m:sSub>
                    <m:r>
                      <a:rPr lang="en-IN" sz="2400" i="1">
                        <a:highlight>
                          <a:schemeClr val="lt1"/>
                        </a:highlight>
                        <a:latin typeface="Cambria Math" panose="02040503050406030204" pitchFamily="18" charset="0"/>
                      </a:rPr>
                      <m:t>=1</m:t>
                    </m:r>
                    <m:r>
                      <a:rPr lang="en-IN" sz="2400" i="1">
                        <a:highlight>
                          <a:schemeClr val="lt1"/>
                        </a:highlight>
                        <a:latin typeface="Cambria Math" panose="02040503050406030204" pitchFamily="18" charset="0"/>
                      </a:rPr>
                      <m:t>𝑛𝐹</m:t>
                    </m:r>
                    <m:r>
                      <a:rPr lang="en-IN" sz="2400" i="1">
                        <a:highlight>
                          <a:schemeClr val="lt1"/>
                        </a:highlight>
                        <a:latin typeface="Cambria Math" panose="02040503050406030204" pitchFamily="18" charset="0"/>
                      </a:rPr>
                      <m:t>, </m:t>
                    </m:r>
                    <m:r>
                      <a:rPr lang="en-IN" sz="2400" i="1">
                        <a:highlight>
                          <a:schemeClr val="lt1"/>
                        </a:highlight>
                        <a:latin typeface="Cambria Math" panose="02040503050406030204" pitchFamily="18" charset="0"/>
                      </a:rPr>
                      <m:t>𝑡h𝑒𝑛</m:t>
                    </m:r>
                  </m:oMath>
                </a14:m>
                <a:endPar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342900" lvl="5" indent="-342900">
                  <a:buFont typeface="Arial" panose="020B0604020202020204" pitchFamily="34" charset="0"/>
                  <a:buChar char="•"/>
                </a:pP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For f = 30kHz,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𝐵</m:t>
                        </m:r>
                      </m:sub>
                    </m:sSub>
                    <m:r>
                      <a:rPr lang="en-IN" sz="2400" i="1">
                        <a:highlight>
                          <a:schemeClr val="lt1"/>
                        </a:highlight>
                        <a:latin typeface="Cambria Math" panose="02040503050406030204" pitchFamily="18" charset="0"/>
                      </a:rPr>
                      <m:t>=24</m:t>
                    </m:r>
                    <m:r>
                      <a:rPr lang="en-IN" sz="2400" i="1">
                        <a:highlight>
                          <a:schemeClr val="lt1"/>
                        </a:highlight>
                        <a:latin typeface="Cambria Math" panose="02040503050406030204" pitchFamily="18" charset="0"/>
                      </a:rPr>
                      <m:t>𝑘</m:t>
                    </m:r>
                    <m:r>
                      <m:rPr>
                        <m:sty m:val="p"/>
                      </m:rPr>
                      <a:rPr lang="el-GR" sz="2400" i="1">
                        <a:highlight>
                          <a:schemeClr val="lt1"/>
                        </a:highlight>
                        <a:latin typeface="Cambria Math" panose="02040503050406030204" pitchFamily="18" charset="0"/>
                        <a:ea typeface="Cambria Math" panose="02040503050406030204" pitchFamily="18" charset="0"/>
                      </a:rPr>
                      <m:t>Ω</m:t>
                    </m:r>
                  </m:oMath>
                </a14:m>
                <a:endPar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342900" lvl="1" indent="-342900">
                  <a:buFont typeface="Arial" panose="020B0604020202020204" pitchFamily="34" charset="0"/>
                  <a:buChar char="•"/>
                </a:pP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For f = 36kHz,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𝐵</m:t>
                        </m:r>
                      </m:sub>
                    </m:sSub>
                    <m:r>
                      <a:rPr lang="en-IN" sz="2400" i="1">
                        <a:highlight>
                          <a:schemeClr val="lt1"/>
                        </a:highlight>
                        <a:latin typeface="Cambria Math" panose="02040503050406030204" pitchFamily="18" charset="0"/>
                      </a:rPr>
                      <m:t>=20</m:t>
                    </m:r>
                    <m:r>
                      <a:rPr lang="en-IN" sz="2400" i="1">
                        <a:highlight>
                          <a:schemeClr val="lt1"/>
                        </a:highlight>
                        <a:latin typeface="Cambria Math" panose="02040503050406030204" pitchFamily="18" charset="0"/>
                      </a:rPr>
                      <m:t>𝑘</m:t>
                    </m:r>
                    <m:r>
                      <m:rPr>
                        <m:sty m:val="p"/>
                      </m:rPr>
                      <a:rPr lang="el-GR" sz="2400" i="1">
                        <a:highlight>
                          <a:schemeClr val="lt1"/>
                        </a:highlight>
                        <a:latin typeface="Cambria Math" panose="02040503050406030204" pitchFamily="18" charset="0"/>
                        <a:ea typeface="Cambria Math" panose="02040503050406030204" pitchFamily="18" charset="0"/>
                      </a:rPr>
                      <m:t>Ω</m:t>
                    </m:r>
                  </m:oMath>
                </a14:m>
                <a:endPar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342900" lvl="1" indent="-342900">
                  <a:buFont typeface="Arial" panose="020B0604020202020204" pitchFamily="34" charset="0"/>
                  <a:buChar char="•"/>
                </a:pP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For f = 40kHz,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𝐵</m:t>
                        </m:r>
                      </m:sub>
                    </m:sSub>
                    <m:r>
                      <a:rPr lang="en-IN" sz="2400" i="1">
                        <a:highlight>
                          <a:schemeClr val="lt1"/>
                        </a:highlight>
                        <a:latin typeface="Cambria Math" panose="02040503050406030204" pitchFamily="18" charset="0"/>
                      </a:rPr>
                      <m:t>=18</m:t>
                    </m:r>
                    <m:r>
                      <a:rPr lang="en-IN" sz="2400" i="1">
                        <a:highlight>
                          <a:schemeClr val="lt1"/>
                        </a:highlight>
                        <a:latin typeface="Cambria Math" panose="02040503050406030204" pitchFamily="18" charset="0"/>
                      </a:rPr>
                      <m:t>𝑘</m:t>
                    </m:r>
                    <m:r>
                      <m:rPr>
                        <m:sty m:val="p"/>
                      </m:rPr>
                      <a:rPr lang="el-GR" sz="2400" i="1">
                        <a:highlight>
                          <a:schemeClr val="lt1"/>
                        </a:highlight>
                        <a:latin typeface="Cambria Math" panose="02040503050406030204" pitchFamily="18" charset="0"/>
                        <a:ea typeface="Cambria Math" panose="02040503050406030204" pitchFamily="18" charset="0"/>
                      </a:rPr>
                      <m:t>Ω</m:t>
                    </m:r>
                  </m:oMath>
                </a14:m>
                <a:endPar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342900" lvl="1" indent="-342900">
                  <a:buFont typeface="Arial" panose="020B0604020202020204" pitchFamily="34" charset="0"/>
                  <a:buChar char="•"/>
                </a:pP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For f = 56kHz,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𝐵</m:t>
                        </m:r>
                      </m:sub>
                    </m:sSub>
                    <m:r>
                      <a:rPr lang="en-IN" sz="2400" i="1">
                        <a:highlight>
                          <a:schemeClr val="lt1"/>
                        </a:highlight>
                        <a:latin typeface="Cambria Math" panose="02040503050406030204" pitchFamily="18" charset="0"/>
                      </a:rPr>
                      <m:t>=13</m:t>
                    </m:r>
                    <m:r>
                      <a:rPr lang="en-IN" sz="2400" i="1">
                        <a:highlight>
                          <a:schemeClr val="lt1"/>
                        </a:highlight>
                        <a:latin typeface="Cambria Math" panose="02040503050406030204" pitchFamily="18" charset="0"/>
                      </a:rPr>
                      <m:t>𝑘</m:t>
                    </m:r>
                    <m:r>
                      <m:rPr>
                        <m:sty m:val="p"/>
                      </m:rPr>
                      <a:rPr lang="el-GR" sz="2400" i="1">
                        <a:highlight>
                          <a:schemeClr val="lt1"/>
                        </a:highlight>
                        <a:latin typeface="Cambria Math" panose="02040503050406030204" pitchFamily="18" charset="0"/>
                        <a:ea typeface="Cambria Math" panose="02040503050406030204" pitchFamily="18" charset="0"/>
                      </a:rPr>
                      <m:t>Ω</m:t>
                    </m:r>
                  </m:oMath>
                </a14:m>
                <a:endPar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93" name="Google Shape;193;p25"/>
              <p:cNvSpPr txBox="1">
                <a:spLocks noRot="1" noChangeAspect="1" noMove="1" noResize="1" noEditPoints="1" noAdjustHandles="1" noChangeArrowheads="1" noChangeShapeType="1" noTextEdit="1"/>
              </p:cNvSpPr>
              <p:nvPr/>
            </p:nvSpPr>
            <p:spPr>
              <a:xfrm>
                <a:off x="437390" y="1052337"/>
                <a:ext cx="5556575" cy="5102487"/>
              </a:xfrm>
              <a:prstGeom prst="rect">
                <a:avLst/>
              </a:prstGeom>
              <a:blipFill>
                <a:blip r:embed="rId3"/>
                <a:stretch>
                  <a:fillRect l="-1756" t="-119" r="-1537"/>
                </a:stretch>
              </a:blipFill>
              <a:ln>
                <a:noFill/>
              </a:ln>
            </p:spPr>
            <p:txBody>
              <a:bodyPr/>
              <a:lstStyle/>
              <a:p>
                <a:r>
                  <a:rPr lang="en-IN">
                    <a:noFill/>
                  </a:rPr>
                  <a:t> </a:t>
                </a:r>
              </a:p>
            </p:txBody>
          </p:sp>
        </mc:Fallback>
      </mc:AlternateContent>
      <p:sp>
        <p:nvSpPr>
          <p:cNvPr id="4" name="Rectangle 3">
            <a:extLst>
              <a:ext uri="{FF2B5EF4-FFF2-40B4-BE49-F238E27FC236}">
                <a16:creationId xmlns:a16="http://schemas.microsoft.com/office/drawing/2014/main" id="{E793230D-6F77-9F6B-5AAA-56DD442592EC}"/>
              </a:ext>
            </a:extLst>
          </p:cNvPr>
          <p:cNvSpPr/>
          <p:nvPr/>
        </p:nvSpPr>
        <p:spPr>
          <a:xfrm>
            <a:off x="438912" y="396824"/>
            <a:ext cx="5522978"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2.Transmitter</a:t>
            </a:r>
          </a:p>
        </p:txBody>
      </p:sp>
      <p:pic>
        <p:nvPicPr>
          <p:cNvPr id="6" name="Picture 5">
            <a:extLst>
              <a:ext uri="{FF2B5EF4-FFF2-40B4-BE49-F238E27FC236}">
                <a16:creationId xmlns:a16="http://schemas.microsoft.com/office/drawing/2014/main" id="{62C10EAF-28D1-5AB0-94C8-0F4A73B8E972}"/>
              </a:ext>
            </a:extLst>
          </p:cNvPr>
          <p:cNvPicPr>
            <a:picLocks noChangeAspect="1"/>
          </p:cNvPicPr>
          <p:nvPr/>
        </p:nvPicPr>
        <p:blipFill>
          <a:blip r:embed="rId4"/>
          <a:stretch>
            <a:fillRect/>
          </a:stretch>
        </p:blipFill>
        <p:spPr>
          <a:xfrm>
            <a:off x="5961889" y="396824"/>
            <a:ext cx="5800785" cy="5638216"/>
          </a:xfrm>
          <a:prstGeom prst="rect">
            <a:avLst/>
          </a:prstGeom>
        </p:spPr>
      </p:pic>
      <p:sp>
        <p:nvSpPr>
          <p:cNvPr id="2" name="Rectangle 1">
            <a:extLst>
              <a:ext uri="{FF2B5EF4-FFF2-40B4-BE49-F238E27FC236}">
                <a16:creationId xmlns:a16="http://schemas.microsoft.com/office/drawing/2014/main" id="{66202FD6-9849-6D0D-B927-4B899EBDDD67}"/>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B1018865-D845-E052-6DEF-AE29079A17DF}"/>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AAB6A47B-BF74-32B3-2C3A-4DBA522D633E}"/>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 sz="4400" b="0" dirty="0">
                <a:latin typeface="Calibri" panose="020F0502020204030204" pitchFamily="34" charset="0"/>
                <a:ea typeface="Calibri" panose="020F0502020204030204" pitchFamily="34" charset="0"/>
                <a:cs typeface="Calibri" panose="020F0502020204030204" pitchFamily="34" charset="0"/>
                <a:sym typeface="Arial"/>
              </a:rPr>
              <a:t>Calculations:</a:t>
            </a:r>
            <a:endParaRPr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87" name="Google Shape;187;p24">
                <a:extLst>
                  <a:ext uri="{FF2B5EF4-FFF2-40B4-BE49-F238E27FC236}">
                    <a16:creationId xmlns:a16="http://schemas.microsoft.com/office/drawing/2014/main" id="{6298B540-2F27-63A5-35E1-F8907D95235A}"/>
                  </a:ext>
                </a:extLst>
              </p:cNvPr>
              <p:cNvSpPr txBox="1"/>
              <p:nvPr/>
            </p:nvSpPr>
            <p:spPr>
              <a:xfrm>
                <a:off x="509927" y="913774"/>
                <a:ext cx="11013479" cy="4385814"/>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IN" sz="2800" dirty="0">
                    <a:highlight>
                      <a:schemeClr val="lt1"/>
                    </a:highlight>
                    <a:latin typeface="Calibri" panose="020F0502020204030204" pitchFamily="34" charset="0"/>
                    <a:ea typeface="Calibri" panose="020F0502020204030204" pitchFamily="34" charset="0"/>
                    <a:cs typeface="Calibri" panose="020F0502020204030204" pitchFamily="34" charset="0"/>
                  </a:rPr>
                  <a:t>Biasing T1: (input side)</a:t>
                </a:r>
              </a:p>
              <a:p>
                <a:pPr lvl="3">
                  <a:lnSpc>
                    <a:spcPct val="110000"/>
                  </a:lnSpc>
                </a:pPr>
                <a:r>
                  <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rPr>
                  <a:t>If </a:t>
                </a:r>
                <a14:m>
                  <m:oMath xmlns:m="http://schemas.openxmlformats.org/officeDocument/2006/math">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𝐶𝐶</m:t>
                        </m:r>
                      </m:sub>
                    </m:sSub>
                    <m:r>
                      <a:rPr lang="en-IN" sz="2000" i="1">
                        <a:highlight>
                          <a:schemeClr val="lt1"/>
                        </a:highlight>
                        <a:latin typeface="Cambria Math" panose="02040503050406030204" pitchFamily="18" charset="0"/>
                      </a:rPr>
                      <m:t>=5</m:t>
                    </m:r>
                    <m:r>
                      <a:rPr lang="en-IN" sz="2000" i="1">
                        <a:highlight>
                          <a:schemeClr val="lt1"/>
                        </a:highlight>
                        <a:latin typeface="Cambria Math" panose="02040503050406030204" pitchFamily="18" charset="0"/>
                      </a:rPr>
                      <m:t>𝑉</m:t>
                    </m:r>
                    <m:r>
                      <a:rPr lang="en-IN" sz="2000" i="1">
                        <a:highlight>
                          <a:schemeClr val="lt1"/>
                        </a:highlight>
                        <a:latin typeface="Cambria Math" panose="02040503050406030204" pitchFamily="18" charset="0"/>
                      </a:rPr>
                      <m:t>, </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𝐶</m:t>
                        </m:r>
                      </m:sub>
                    </m:sSub>
                    <m:r>
                      <a:rPr lang="en-IN" sz="2000" i="1">
                        <a:highlight>
                          <a:schemeClr val="lt1"/>
                        </a:highlight>
                        <a:latin typeface="Cambria Math" panose="02040503050406030204" pitchFamily="18" charset="0"/>
                      </a:rPr>
                      <m:t>=1</m:t>
                    </m:r>
                    <m:r>
                      <a:rPr lang="en-IN" sz="2000" i="1">
                        <a:highlight>
                          <a:schemeClr val="lt1"/>
                        </a:highlight>
                        <a:latin typeface="Cambria Math" panose="02040503050406030204" pitchFamily="18" charset="0"/>
                      </a:rPr>
                      <m:t>𝑚𝐴</m:t>
                    </m:r>
                    <m:r>
                      <a:rPr lang="en-IN" sz="2000" i="1">
                        <a:highlight>
                          <a:schemeClr val="lt1"/>
                        </a:highlight>
                        <a:latin typeface="Cambria Math" panose="02040503050406030204" pitchFamily="18" charset="0"/>
                      </a:rPr>
                      <m:t>,  </m:t>
                    </m:r>
                    <m:r>
                      <a:rPr lang="en-IN" sz="2000" i="1">
                        <a:highlight>
                          <a:schemeClr val="lt1"/>
                        </a:highlight>
                        <a:latin typeface="Cambria Math" panose="02040503050406030204" pitchFamily="18" charset="0"/>
                        <a:ea typeface="Cambria Math" panose="02040503050406030204" pitchFamily="18" charset="0"/>
                      </a:rPr>
                      <m:t>𝛽</m:t>
                    </m:r>
                    <m:r>
                      <a:rPr lang="en-IN" sz="2000" i="1">
                        <a:highlight>
                          <a:schemeClr val="lt1"/>
                        </a:highlight>
                        <a:latin typeface="Cambria Math" panose="02040503050406030204" pitchFamily="18" charset="0"/>
                        <a:ea typeface="Cambria Math" panose="02040503050406030204" pitchFamily="18" charset="0"/>
                      </a:rPr>
                      <m:t>=120, </m:t>
                    </m:r>
                    <m:r>
                      <a:rPr lang="en-IN" sz="2000" i="1">
                        <a:highlight>
                          <a:schemeClr val="lt1"/>
                        </a:highlight>
                        <a:latin typeface="Cambria Math" panose="02040503050406030204" pitchFamily="18" charset="0"/>
                        <a:ea typeface="Cambria Math" panose="02040503050406030204" pitchFamily="18" charset="0"/>
                      </a:rPr>
                      <m:t>𝑡h𝑒𝑛</m:t>
                    </m:r>
                    <m:r>
                      <a:rPr lang="en-IN" sz="2000" i="1">
                        <a:highlight>
                          <a:schemeClr val="lt1"/>
                        </a:highlight>
                        <a:latin typeface="Cambria Math" panose="02040503050406030204" pitchFamily="18" charset="0"/>
                        <a:ea typeface="Cambria Math" panose="02040503050406030204" pitchFamily="18" charset="0"/>
                      </a:rPr>
                      <m:t> </m:t>
                    </m:r>
                    <m:sSub>
                      <m:sSubPr>
                        <m:ctrlPr>
                          <a:rPr lang="en-IN" sz="2000" i="1">
                            <a:highlight>
                              <a:schemeClr val="lt1"/>
                            </a:highlight>
                            <a:latin typeface="Cambria Math" panose="02040503050406030204" pitchFamily="18" charset="0"/>
                            <a:ea typeface="Cambria Math" panose="02040503050406030204" pitchFamily="18" charset="0"/>
                          </a:rPr>
                        </m:ctrlPr>
                      </m:sSubPr>
                      <m:e>
                        <m:r>
                          <a:rPr lang="en-IN" sz="2000" i="1">
                            <a:highlight>
                              <a:schemeClr val="lt1"/>
                            </a:highlight>
                            <a:latin typeface="Cambria Math" panose="02040503050406030204" pitchFamily="18" charset="0"/>
                            <a:ea typeface="Cambria Math" panose="02040503050406030204" pitchFamily="18" charset="0"/>
                          </a:rPr>
                          <m:t>𝑅</m:t>
                        </m:r>
                      </m:e>
                      <m:sub>
                        <m:r>
                          <a:rPr lang="en-IN" sz="2000" i="1">
                            <a:highlight>
                              <a:schemeClr val="lt1"/>
                            </a:highlight>
                            <a:latin typeface="Cambria Math" panose="02040503050406030204" pitchFamily="18" charset="0"/>
                            <a:ea typeface="Cambria Math" panose="02040503050406030204" pitchFamily="18" charset="0"/>
                          </a:rPr>
                          <m:t>𝐶</m:t>
                        </m:r>
                      </m:sub>
                    </m:sSub>
                    <m:r>
                      <a:rPr lang="en-IN" sz="2000" i="1">
                        <a:highlight>
                          <a:schemeClr val="lt1"/>
                        </a:highlight>
                        <a:latin typeface="Cambria Math" panose="02040503050406030204" pitchFamily="18" charset="0"/>
                        <a:ea typeface="Cambria Math" panose="02040503050406030204" pitchFamily="18" charset="0"/>
                      </a:rPr>
                      <m:t>=</m:t>
                    </m:r>
                    <m:f>
                      <m:fPr>
                        <m:ctrlPr>
                          <a:rPr lang="en-IN" sz="2000" i="1">
                            <a:highlight>
                              <a:schemeClr val="lt1"/>
                            </a:highlight>
                            <a:latin typeface="Cambria Math" panose="02040503050406030204" pitchFamily="18" charset="0"/>
                            <a:ea typeface="Cambria Math" panose="02040503050406030204" pitchFamily="18" charset="0"/>
                          </a:rPr>
                        </m:ctrlPr>
                      </m:fPr>
                      <m:num>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𝐶𝐶</m:t>
                            </m:r>
                          </m:sub>
                        </m:sSub>
                        <m:r>
                          <a:rPr lang="en-IN" sz="2000" i="1">
                            <a:highlight>
                              <a:schemeClr val="lt1"/>
                            </a:highlight>
                            <a:latin typeface="Cambria Math" panose="02040503050406030204" pitchFamily="18" charset="0"/>
                          </a:rPr>
                          <m:t> − </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𝐶𝐸</m:t>
                            </m:r>
                          </m:sub>
                        </m:sSub>
                      </m:num>
                      <m:den>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𝐶</m:t>
                            </m:r>
                          </m:sub>
                        </m:sSub>
                      </m:den>
                    </m:f>
                  </m:oMath>
                </a14:m>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 = 1.67k</a:t>
                </a:r>
                <a14:m>
                  <m:oMath xmlns:m="http://schemas.openxmlformats.org/officeDocument/2006/math">
                    <m:r>
                      <m:rPr>
                        <m:sty m:val="p"/>
                      </m:rPr>
                      <a:rPr lang="el-GR" sz="2000" i="1">
                        <a:highlight>
                          <a:schemeClr val="lt1"/>
                        </a:highlight>
                        <a:latin typeface="Cambria Math" panose="02040503050406030204" pitchFamily="18" charset="0"/>
                        <a:ea typeface="Cambria Math" panose="02040503050406030204" pitchFamily="18" charset="0"/>
                      </a:rPr>
                      <m:t>Ω</m:t>
                    </m:r>
                  </m:oMath>
                </a14:m>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14:m>
                  <m:oMath xmlns:m="http://schemas.openxmlformats.org/officeDocument/2006/math">
                    <m:sSub>
                      <m:sSubPr>
                        <m:ctrlPr>
                          <a:rPr lang="en-IN" sz="2000" i="1">
                            <a:highlight>
                              <a:schemeClr val="lt1"/>
                            </a:highlight>
                            <a:latin typeface="Cambria Math" panose="02040503050406030204" pitchFamily="18" charset="0"/>
                            <a:ea typeface="Cambria Math" panose="02040503050406030204" pitchFamily="18" charset="0"/>
                          </a:rPr>
                        </m:ctrlPr>
                      </m:sSubPr>
                      <m:e>
                        <m:r>
                          <a:rPr lang="en-IN" sz="2000" i="1">
                            <a:highlight>
                              <a:schemeClr val="lt1"/>
                            </a:highlight>
                            <a:latin typeface="Cambria Math" panose="02040503050406030204" pitchFamily="18" charset="0"/>
                            <a:ea typeface="Cambria Math" panose="02040503050406030204" pitchFamily="18" charset="0"/>
                          </a:rPr>
                          <m:t>𝐼</m:t>
                        </m:r>
                      </m:e>
                      <m:sub>
                        <m:r>
                          <a:rPr lang="en-IN" sz="2000" i="1">
                            <a:highlight>
                              <a:schemeClr val="lt1"/>
                            </a:highlight>
                            <a:latin typeface="Cambria Math" panose="02040503050406030204" pitchFamily="18" charset="0"/>
                            <a:ea typeface="Cambria Math" panose="02040503050406030204" pitchFamily="18" charset="0"/>
                          </a:rPr>
                          <m:t>𝐵</m:t>
                        </m:r>
                      </m:sub>
                    </m:sSub>
                    <m:r>
                      <a:rPr lang="en-IN" sz="2000" i="1">
                        <a:highlight>
                          <a:schemeClr val="lt1"/>
                        </a:highlight>
                        <a:latin typeface="Cambria Math" panose="02040503050406030204" pitchFamily="18" charset="0"/>
                        <a:ea typeface="Cambria Math" panose="02040503050406030204" pitchFamily="18" charset="0"/>
                      </a:rPr>
                      <m:t>=</m:t>
                    </m:r>
                    <m:f>
                      <m:fPr>
                        <m:type m:val="skw"/>
                        <m:ctrlPr>
                          <a:rPr lang="en-IN" sz="2000" i="1">
                            <a:highlight>
                              <a:schemeClr val="lt1"/>
                            </a:highlight>
                            <a:latin typeface="Cambria Math" panose="02040503050406030204" pitchFamily="18" charset="0"/>
                            <a:ea typeface="Cambria Math" panose="02040503050406030204" pitchFamily="18" charset="0"/>
                          </a:rPr>
                        </m:ctrlPr>
                      </m:fPr>
                      <m:num>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𝐶</m:t>
                            </m:r>
                          </m:sub>
                        </m:sSub>
                      </m:num>
                      <m:den>
                        <m:r>
                          <a:rPr lang="en-IN" sz="2000" i="1">
                            <a:highlight>
                              <a:schemeClr val="lt1"/>
                            </a:highlight>
                            <a:latin typeface="Cambria Math" panose="02040503050406030204" pitchFamily="18" charset="0"/>
                            <a:ea typeface="Cambria Math" panose="02040503050406030204" pitchFamily="18" charset="0"/>
                          </a:rPr>
                          <m:t>𝛽</m:t>
                        </m:r>
                      </m:den>
                    </m:f>
                    <m:r>
                      <a:rPr lang="en-IN" sz="2000">
                        <a:highlight>
                          <a:schemeClr val="lt1"/>
                        </a:highlight>
                        <a:latin typeface="Cambria Math" panose="02040503050406030204" pitchFamily="18" charset="0"/>
                        <a:ea typeface="Cambria Math" panose="02040503050406030204" pitchFamily="18" charset="0"/>
                      </a:rPr>
                      <m:t>=8.33</m:t>
                    </m:r>
                    <m:r>
                      <m:rPr>
                        <m:sty m:val="p"/>
                      </m:rPr>
                      <a:rPr lang="el-GR" sz="2000" i="1">
                        <a:highlight>
                          <a:schemeClr val="lt1"/>
                        </a:highlight>
                        <a:latin typeface="Cambria Math" panose="02040503050406030204" pitchFamily="18" charset="0"/>
                        <a:ea typeface="Cambria Math" panose="02040503050406030204" pitchFamily="18" charset="0"/>
                      </a:rPr>
                      <m:t>μ</m:t>
                    </m:r>
                    <m:r>
                      <a:rPr lang="en-IN" sz="2000" i="1">
                        <a:highlight>
                          <a:schemeClr val="lt1"/>
                        </a:highlight>
                        <a:latin typeface="Cambria Math" panose="02040503050406030204" pitchFamily="18" charset="0"/>
                        <a:ea typeface="Cambria Math" panose="02040503050406030204" pitchFamily="18" charset="0"/>
                      </a:rPr>
                      <m:t>𝐴</m:t>
                    </m:r>
                    <m:r>
                      <a:rPr lang="en-IN" sz="2000" i="1">
                        <a:highlight>
                          <a:schemeClr val="lt1"/>
                        </a:highlight>
                        <a:latin typeface="Cambria Math" panose="02040503050406030204" pitchFamily="18" charset="0"/>
                        <a:ea typeface="Cambria Math" panose="02040503050406030204" pitchFamily="18" charset="0"/>
                      </a:rPr>
                      <m:t> → </m:t>
                    </m:r>
                    <m:sSub>
                      <m:sSubPr>
                        <m:ctrlPr>
                          <a:rPr lang="en-IN" sz="2000" i="1">
                            <a:highlight>
                              <a:schemeClr val="lt1"/>
                            </a:highlight>
                            <a:latin typeface="Cambria Math" panose="02040503050406030204" pitchFamily="18" charset="0"/>
                            <a:ea typeface="Cambria Math" panose="02040503050406030204" pitchFamily="18" charset="0"/>
                          </a:rPr>
                        </m:ctrlPr>
                      </m:sSubPr>
                      <m:e>
                        <m:r>
                          <a:rPr lang="en-IN" sz="2000" i="1">
                            <a:highlight>
                              <a:schemeClr val="lt1"/>
                            </a:highlight>
                            <a:latin typeface="Cambria Math" panose="02040503050406030204" pitchFamily="18" charset="0"/>
                            <a:ea typeface="Cambria Math" panose="02040503050406030204" pitchFamily="18" charset="0"/>
                          </a:rPr>
                          <m:t>𝑅</m:t>
                        </m:r>
                      </m:e>
                      <m:sub>
                        <m:r>
                          <a:rPr lang="en-IN" sz="2000" i="1">
                            <a:highlight>
                              <a:schemeClr val="lt1"/>
                            </a:highlight>
                            <a:latin typeface="Cambria Math" panose="02040503050406030204" pitchFamily="18" charset="0"/>
                            <a:ea typeface="Cambria Math" panose="02040503050406030204" pitchFamily="18" charset="0"/>
                          </a:rPr>
                          <m:t>𝑏</m:t>
                        </m:r>
                      </m:sub>
                    </m:sSub>
                    <m:r>
                      <a:rPr lang="en-IN" sz="2000" i="1">
                        <a:highlight>
                          <a:schemeClr val="lt1"/>
                        </a:highlight>
                        <a:latin typeface="Cambria Math" panose="02040503050406030204" pitchFamily="18" charset="0"/>
                        <a:ea typeface="Cambria Math" panose="02040503050406030204" pitchFamily="18" charset="0"/>
                      </a:rPr>
                      <m:t>=</m:t>
                    </m:r>
                    <m:f>
                      <m:fPr>
                        <m:ctrlPr>
                          <a:rPr lang="en-IN" sz="2000" i="1">
                            <a:highlight>
                              <a:schemeClr val="lt1"/>
                            </a:highlight>
                            <a:latin typeface="Cambria Math" panose="02040503050406030204" pitchFamily="18" charset="0"/>
                            <a:ea typeface="Cambria Math" panose="02040503050406030204" pitchFamily="18" charset="0"/>
                          </a:rPr>
                        </m:ctrlPr>
                      </m:fPr>
                      <m:num>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𝑖𝑛</m:t>
                            </m:r>
                          </m:sub>
                        </m:sSub>
                        <m:r>
                          <a:rPr lang="en-IN" sz="2000" i="1">
                            <a:highlight>
                              <a:schemeClr val="lt1"/>
                            </a:highlight>
                            <a:latin typeface="Cambria Math" panose="02040503050406030204" pitchFamily="18" charset="0"/>
                          </a:rPr>
                          <m:t> −</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 </m:t>
                            </m:r>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𝐵𝐸</m:t>
                            </m:r>
                          </m:sub>
                        </m:sSub>
                      </m:num>
                      <m:den>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𝐵</m:t>
                            </m:r>
                          </m:sub>
                        </m:sSub>
                      </m:den>
                    </m:f>
                  </m:oMath>
                </a14:m>
                <a:r>
                  <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rPr>
                  <a:t> = 48k</a:t>
                </a:r>
                <a14:m>
                  <m:oMath xmlns:m="http://schemas.openxmlformats.org/officeDocument/2006/math">
                    <m:r>
                      <m:rPr>
                        <m:sty m:val="p"/>
                      </m:rPr>
                      <a:rPr lang="el-GR" sz="2000" i="1">
                        <a:highlight>
                          <a:schemeClr val="lt1"/>
                        </a:highlight>
                        <a:latin typeface="Cambria Math" panose="02040503050406030204" pitchFamily="18" charset="0"/>
                        <a:ea typeface="Cambria Math" panose="02040503050406030204" pitchFamily="18" charset="0"/>
                      </a:rPr>
                      <m:t>Ω</m:t>
                    </m:r>
                  </m:oMath>
                </a14:m>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sz="2800" dirty="0">
                    <a:highlight>
                      <a:schemeClr val="lt1"/>
                    </a:highlight>
                    <a:latin typeface="Calibri" panose="020F0502020204030204" pitchFamily="34" charset="0"/>
                    <a:ea typeface="Calibri" panose="020F0502020204030204" pitchFamily="34" charset="0"/>
                    <a:cs typeface="Calibri" panose="020F0502020204030204" pitchFamily="34" charset="0"/>
                  </a:rPr>
                  <a:t>Biasing T2</a:t>
                </a:r>
                <a:r>
                  <a:rPr lang="en-IN" sz="2800" dirty="0">
                    <a:highlight>
                      <a:schemeClr val="lt1"/>
                    </a:highligh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(output side)</a:t>
                </a:r>
                <a:endParaRPr lang="en-IN" sz="28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rPr>
                  <a:t>If </a:t>
                </a:r>
                <a14:m>
                  <m:oMath xmlns:m="http://schemas.openxmlformats.org/officeDocument/2006/math">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𝐶𝐶</m:t>
                        </m:r>
                      </m:sub>
                    </m:sSub>
                    <m:r>
                      <a:rPr lang="en-IN" sz="2000" i="1">
                        <a:highlight>
                          <a:schemeClr val="lt1"/>
                        </a:highlight>
                        <a:latin typeface="Cambria Math" panose="02040503050406030204" pitchFamily="18" charset="0"/>
                      </a:rPr>
                      <m:t>=5</m:t>
                    </m:r>
                    <m:r>
                      <a:rPr lang="en-IN" sz="2000" i="1">
                        <a:highlight>
                          <a:schemeClr val="lt1"/>
                        </a:highlight>
                        <a:latin typeface="Cambria Math" panose="02040503050406030204" pitchFamily="18" charset="0"/>
                      </a:rPr>
                      <m:t>𝑉</m:t>
                    </m:r>
                    <m:r>
                      <a:rPr lang="en-IN" sz="2000" i="1">
                        <a:highlight>
                          <a:schemeClr val="lt1"/>
                        </a:highlight>
                        <a:latin typeface="Cambria Math" panose="02040503050406030204" pitchFamily="18" charset="0"/>
                      </a:rPr>
                      <m:t>, </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𝐶</m:t>
                        </m:r>
                      </m:sub>
                    </m:sSub>
                    <m:r>
                      <a:rPr lang="en-IN" sz="2000" i="1">
                        <a:highlight>
                          <a:schemeClr val="lt1"/>
                        </a:highlight>
                        <a:latin typeface="Cambria Math" panose="02040503050406030204" pitchFamily="18" charset="0"/>
                      </a:rPr>
                      <m:t>=20</m:t>
                    </m:r>
                    <m:r>
                      <a:rPr lang="en-IN" sz="2000" i="1">
                        <a:highlight>
                          <a:schemeClr val="lt1"/>
                        </a:highlight>
                        <a:latin typeface="Cambria Math" panose="02040503050406030204" pitchFamily="18" charset="0"/>
                      </a:rPr>
                      <m:t>𝑚𝐴</m:t>
                    </m:r>
                    <m:r>
                      <a:rPr lang="en-IN" sz="2000" i="1">
                        <a:highlight>
                          <a:schemeClr val="lt1"/>
                        </a:highlight>
                        <a:latin typeface="Cambria Math" panose="02040503050406030204" pitchFamily="18" charset="0"/>
                      </a:rPr>
                      <m:t>,  </m:t>
                    </m:r>
                    <m:r>
                      <a:rPr lang="en-IN" sz="2000" i="1">
                        <a:highlight>
                          <a:schemeClr val="lt1"/>
                        </a:highlight>
                        <a:latin typeface="Cambria Math" panose="02040503050406030204" pitchFamily="18" charset="0"/>
                        <a:ea typeface="Cambria Math" panose="02040503050406030204" pitchFamily="18" charset="0"/>
                      </a:rPr>
                      <m:t>𝛽</m:t>
                    </m:r>
                    <m:r>
                      <a:rPr lang="en-IN" sz="2000" i="1">
                        <a:highlight>
                          <a:schemeClr val="lt1"/>
                        </a:highlight>
                        <a:latin typeface="Cambria Math" panose="02040503050406030204" pitchFamily="18" charset="0"/>
                        <a:ea typeface="Cambria Math" panose="02040503050406030204" pitchFamily="18" charset="0"/>
                      </a:rPr>
                      <m:t>=100,</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𝐶𝐸</m:t>
                        </m:r>
                        <m:r>
                          <a:rPr lang="en-IN" sz="2000" i="1">
                            <a:highlight>
                              <a:schemeClr val="lt1"/>
                            </a:highlight>
                            <a:latin typeface="Cambria Math" panose="02040503050406030204" pitchFamily="18" charset="0"/>
                          </a:rPr>
                          <m:t>,</m:t>
                        </m:r>
                        <m:r>
                          <a:rPr lang="en-IN" sz="2000" i="1">
                            <a:highlight>
                              <a:schemeClr val="lt1"/>
                            </a:highlight>
                            <a:latin typeface="Cambria Math" panose="02040503050406030204" pitchFamily="18" charset="0"/>
                          </a:rPr>
                          <m:t>𝑠𝑎𝑡</m:t>
                        </m:r>
                      </m:sub>
                    </m:sSub>
                    <m:r>
                      <a:rPr lang="en-IN" sz="2000" i="1">
                        <a:highlight>
                          <a:schemeClr val="lt1"/>
                        </a:highlight>
                        <a:latin typeface="Cambria Math" panose="02040503050406030204" pitchFamily="18" charset="0"/>
                      </a:rPr>
                      <m:t>=0.2</m:t>
                    </m:r>
                    <m:r>
                      <a:rPr lang="en-IN" sz="2000" i="1">
                        <a:highlight>
                          <a:schemeClr val="lt1"/>
                        </a:highlight>
                        <a:latin typeface="Cambria Math" panose="02040503050406030204" pitchFamily="18" charset="0"/>
                      </a:rPr>
                      <m:t>𝑉</m:t>
                    </m:r>
                    <m:r>
                      <a:rPr lang="en-IN" sz="2000" i="1">
                        <a:highlight>
                          <a:schemeClr val="lt1"/>
                        </a:highlight>
                        <a:latin typeface="Cambria Math" panose="02040503050406030204" pitchFamily="18" charset="0"/>
                      </a:rPr>
                      <m:t>,</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𝐹</m:t>
                        </m:r>
                        <m:r>
                          <a:rPr lang="en-IN" sz="2000" i="1">
                            <a:highlight>
                              <a:schemeClr val="lt1"/>
                            </a:highlight>
                            <a:latin typeface="Cambria Math" panose="02040503050406030204" pitchFamily="18" charset="0"/>
                          </a:rPr>
                          <m:t>,</m:t>
                        </m:r>
                        <m:r>
                          <a:rPr lang="en-IN" sz="2000" i="1">
                            <a:highlight>
                              <a:schemeClr val="lt1"/>
                            </a:highlight>
                            <a:latin typeface="Cambria Math" panose="02040503050406030204" pitchFamily="18" charset="0"/>
                          </a:rPr>
                          <m:t>𝑙𝑒𝑑</m:t>
                        </m:r>
                      </m:sub>
                    </m:sSub>
                    <m:r>
                      <a:rPr lang="en-IN" sz="2000" i="1">
                        <a:highlight>
                          <a:schemeClr val="lt1"/>
                        </a:highlight>
                        <a:latin typeface="Cambria Math" panose="02040503050406030204" pitchFamily="18" charset="0"/>
                      </a:rPr>
                      <m:t>=1.2</m:t>
                    </m:r>
                    <m:r>
                      <a:rPr lang="en-IN" sz="2000" i="1">
                        <a:highlight>
                          <a:schemeClr val="lt1"/>
                        </a:highlight>
                        <a:latin typeface="Cambria Math" panose="02040503050406030204" pitchFamily="18" charset="0"/>
                      </a:rPr>
                      <m:t>𝑉</m:t>
                    </m:r>
                    <m:r>
                      <a:rPr lang="en-IN" sz="2000" i="1">
                        <a:highlight>
                          <a:schemeClr val="lt1"/>
                        </a:highlight>
                        <a:latin typeface="Cambria Math" panose="02040503050406030204" pitchFamily="18" charset="0"/>
                      </a:rPr>
                      <m:t>, </m:t>
                    </m:r>
                    <m:r>
                      <a:rPr lang="en-IN" sz="2000" i="1">
                        <a:highlight>
                          <a:schemeClr val="lt1"/>
                        </a:highlight>
                        <a:latin typeface="Cambria Math" panose="02040503050406030204" pitchFamily="18" charset="0"/>
                        <a:ea typeface="Cambria Math" panose="02040503050406030204" pitchFamily="18" charset="0"/>
                      </a:rPr>
                      <m:t>𝑡h𝑒𝑛</m:t>
                    </m:r>
                    <m:r>
                      <a:rPr lang="en-IN" sz="2000" i="1">
                        <a:highlight>
                          <a:schemeClr val="lt1"/>
                        </a:highlight>
                        <a:latin typeface="Cambria Math" panose="02040503050406030204" pitchFamily="18" charset="0"/>
                        <a:ea typeface="Cambria Math" panose="02040503050406030204" pitchFamily="18" charset="0"/>
                      </a:rPr>
                      <m:t> </m:t>
                    </m:r>
                  </m:oMath>
                </a14:m>
                <a:endParaRPr lang="en-IN" sz="2000" i="1"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14:m>
                  <m:oMath xmlns:m="http://schemas.openxmlformats.org/officeDocument/2006/math">
                    <m:sSub>
                      <m:sSubPr>
                        <m:ctrlPr>
                          <a:rPr lang="en-IN" sz="2000" i="1">
                            <a:highlight>
                              <a:schemeClr val="lt1"/>
                            </a:highlight>
                            <a:latin typeface="Cambria Math" panose="02040503050406030204" pitchFamily="18" charset="0"/>
                            <a:ea typeface="Cambria Math" panose="02040503050406030204" pitchFamily="18" charset="0"/>
                          </a:rPr>
                        </m:ctrlPr>
                      </m:sSubPr>
                      <m:e>
                        <m:r>
                          <a:rPr lang="en-IN" sz="2000" i="1">
                            <a:highlight>
                              <a:schemeClr val="lt1"/>
                            </a:highlight>
                            <a:latin typeface="Cambria Math" panose="02040503050406030204" pitchFamily="18" charset="0"/>
                            <a:ea typeface="Cambria Math" panose="02040503050406030204" pitchFamily="18" charset="0"/>
                          </a:rPr>
                          <m:t>𝑅</m:t>
                        </m:r>
                      </m:e>
                      <m:sub>
                        <m:r>
                          <a:rPr lang="en-IN" sz="2000" i="1">
                            <a:highlight>
                              <a:schemeClr val="lt1"/>
                            </a:highlight>
                            <a:latin typeface="Cambria Math" panose="02040503050406030204" pitchFamily="18" charset="0"/>
                            <a:ea typeface="Cambria Math" panose="02040503050406030204" pitchFamily="18" charset="0"/>
                          </a:rPr>
                          <m:t>𝐶</m:t>
                        </m:r>
                        <m:r>
                          <a:rPr lang="en-IN" sz="2000" i="1">
                            <a:highlight>
                              <a:schemeClr val="lt1"/>
                            </a:highlight>
                            <a:latin typeface="Cambria Math" panose="02040503050406030204" pitchFamily="18" charset="0"/>
                            <a:ea typeface="Cambria Math" panose="02040503050406030204" pitchFamily="18" charset="0"/>
                          </a:rPr>
                          <m:t>,</m:t>
                        </m:r>
                        <m:r>
                          <a:rPr lang="en-IN" sz="2000" i="1">
                            <a:highlight>
                              <a:schemeClr val="lt1"/>
                            </a:highlight>
                            <a:latin typeface="Cambria Math" panose="02040503050406030204" pitchFamily="18" charset="0"/>
                            <a:ea typeface="Cambria Math" panose="02040503050406030204" pitchFamily="18" charset="0"/>
                          </a:rPr>
                          <m:t>𝑚𝑎𝑥</m:t>
                        </m:r>
                      </m:sub>
                    </m:sSub>
                    <m:r>
                      <a:rPr lang="en-IN" sz="2000" i="1">
                        <a:highlight>
                          <a:schemeClr val="lt1"/>
                        </a:highlight>
                        <a:latin typeface="Cambria Math" panose="02040503050406030204" pitchFamily="18" charset="0"/>
                        <a:ea typeface="Cambria Math" panose="02040503050406030204" pitchFamily="18" charset="0"/>
                      </a:rPr>
                      <m:t>=</m:t>
                    </m:r>
                    <m:f>
                      <m:fPr>
                        <m:ctrlPr>
                          <a:rPr lang="en-IN" sz="2000" i="1">
                            <a:highlight>
                              <a:schemeClr val="lt1"/>
                            </a:highlight>
                            <a:latin typeface="Cambria Math" panose="02040503050406030204" pitchFamily="18" charset="0"/>
                            <a:ea typeface="Cambria Math" panose="02040503050406030204" pitchFamily="18" charset="0"/>
                          </a:rPr>
                        </m:ctrlPr>
                      </m:fPr>
                      <m:num>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𝐶𝐶</m:t>
                            </m:r>
                            <m:r>
                              <a:rPr lang="en-IN" sz="2000" i="1">
                                <a:highlight>
                                  <a:schemeClr val="lt1"/>
                                </a:highlight>
                                <a:latin typeface="Cambria Math" panose="02040503050406030204" pitchFamily="18" charset="0"/>
                              </a:rPr>
                              <m:t> </m:t>
                            </m:r>
                          </m:sub>
                        </m:sSub>
                        <m:r>
                          <a:rPr lang="en-IN" sz="2000" i="1">
                            <a:highlight>
                              <a:schemeClr val="lt1"/>
                            </a:highlight>
                            <a:latin typeface="Cambria Math" panose="02040503050406030204" pitchFamily="18" charset="0"/>
                          </a:rPr>
                          <m:t>− </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𝐹</m:t>
                            </m:r>
                          </m:sub>
                        </m:sSub>
                        <m:r>
                          <a:rPr lang="en-IN" sz="2000" i="1">
                            <a:highlight>
                              <a:schemeClr val="lt1"/>
                            </a:highlight>
                            <a:latin typeface="Cambria Math" panose="02040503050406030204" pitchFamily="18" charset="0"/>
                          </a:rPr>
                          <m:t> − </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𝐶𝐸</m:t>
                            </m:r>
                            <m:r>
                              <a:rPr lang="en-IN" sz="2000" i="1">
                                <a:highlight>
                                  <a:schemeClr val="lt1"/>
                                </a:highlight>
                                <a:latin typeface="Cambria Math" panose="02040503050406030204" pitchFamily="18" charset="0"/>
                              </a:rPr>
                              <m:t>,</m:t>
                            </m:r>
                            <m:r>
                              <a:rPr lang="en-IN" sz="2000" i="1">
                                <a:highlight>
                                  <a:schemeClr val="lt1"/>
                                </a:highlight>
                                <a:latin typeface="Cambria Math" panose="02040503050406030204" pitchFamily="18" charset="0"/>
                              </a:rPr>
                              <m:t>𝑠𝑎𝑡</m:t>
                            </m:r>
                          </m:sub>
                        </m:sSub>
                      </m:num>
                      <m:den>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𝐶</m:t>
                            </m:r>
                          </m:sub>
                        </m:sSub>
                      </m:den>
                    </m:f>
                  </m:oMath>
                </a14:m>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 = 163k</a:t>
                </a:r>
                <a14:m>
                  <m:oMath xmlns:m="http://schemas.openxmlformats.org/officeDocument/2006/math">
                    <m:r>
                      <m:rPr>
                        <m:sty m:val="p"/>
                      </m:rPr>
                      <a:rPr lang="el-GR" sz="2000" i="1">
                        <a:highlight>
                          <a:schemeClr val="lt1"/>
                        </a:highlight>
                        <a:latin typeface="Cambria Math" panose="02040503050406030204" pitchFamily="18" charset="0"/>
                        <a:ea typeface="Cambria Math" panose="02040503050406030204" pitchFamily="18" charset="0"/>
                      </a:rPr>
                      <m:t>Ω</m:t>
                    </m:r>
                  </m:oMath>
                </a14:m>
                <a:r>
                  <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rPr>
                  <a:t>. For safer side, </a:t>
                </a:r>
                <a14:m>
                  <m:oMath xmlns:m="http://schemas.openxmlformats.org/officeDocument/2006/math">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𝑅</m:t>
                        </m:r>
                      </m:e>
                      <m:sub>
                        <m:r>
                          <a:rPr lang="en-IN" sz="2000" i="1">
                            <a:highlight>
                              <a:schemeClr val="lt1"/>
                            </a:highlight>
                            <a:latin typeface="Cambria Math" panose="02040503050406030204" pitchFamily="18" charset="0"/>
                          </a:rPr>
                          <m:t>𝐶</m:t>
                        </m:r>
                      </m:sub>
                    </m:sSub>
                    <m:r>
                      <a:rPr lang="en-IN" sz="2000" i="1">
                        <a:highlight>
                          <a:schemeClr val="lt1"/>
                        </a:highlight>
                        <a:latin typeface="Cambria Math" panose="02040503050406030204" pitchFamily="18" charset="0"/>
                      </a:rPr>
                      <m:t>=150</m:t>
                    </m:r>
                  </m:oMath>
                </a14:m>
                <a:r>
                  <a:rPr lang="el-GR" sz="2000" dirty="0">
                    <a:highlight>
                      <a:schemeClr val="lt1"/>
                    </a:highligh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m:rPr>
                        <m:sty m:val="p"/>
                      </m:rPr>
                      <a:rPr lang="el-GR" sz="2000" i="1">
                        <a:highlight>
                          <a:schemeClr val="lt1"/>
                        </a:highlight>
                        <a:latin typeface="Cambria Math" panose="02040503050406030204" pitchFamily="18" charset="0"/>
                        <a:ea typeface="Cambria Math" panose="02040503050406030204" pitchFamily="18" charset="0"/>
                      </a:rPr>
                      <m:t>Ω</m:t>
                    </m:r>
                  </m:oMath>
                </a14:m>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14:m>
                  <m:oMath xmlns:m="http://schemas.openxmlformats.org/officeDocument/2006/math">
                    <m:sSub>
                      <m:sSubPr>
                        <m:ctrlPr>
                          <a:rPr lang="en-IN" sz="2000" i="1">
                            <a:highlight>
                              <a:schemeClr val="lt1"/>
                            </a:highlight>
                            <a:latin typeface="Cambria Math" panose="02040503050406030204" pitchFamily="18" charset="0"/>
                            <a:ea typeface="Cambria Math" panose="02040503050406030204" pitchFamily="18" charset="0"/>
                          </a:rPr>
                        </m:ctrlPr>
                      </m:sSubPr>
                      <m:e>
                        <m:r>
                          <a:rPr lang="en-IN" sz="2000" i="1">
                            <a:highlight>
                              <a:schemeClr val="lt1"/>
                            </a:highlight>
                            <a:latin typeface="Cambria Math" panose="02040503050406030204" pitchFamily="18" charset="0"/>
                            <a:ea typeface="Cambria Math" panose="02040503050406030204" pitchFamily="18" charset="0"/>
                          </a:rPr>
                          <m:t>𝐼</m:t>
                        </m:r>
                      </m:e>
                      <m:sub>
                        <m:r>
                          <a:rPr lang="en-IN" sz="2000" i="1">
                            <a:highlight>
                              <a:schemeClr val="lt1"/>
                            </a:highlight>
                            <a:latin typeface="Cambria Math" panose="02040503050406030204" pitchFamily="18" charset="0"/>
                            <a:ea typeface="Cambria Math" panose="02040503050406030204" pitchFamily="18" charset="0"/>
                          </a:rPr>
                          <m:t>𝐵</m:t>
                        </m:r>
                      </m:sub>
                    </m:sSub>
                    <m:r>
                      <a:rPr lang="en-IN" sz="2000" i="1">
                        <a:highlight>
                          <a:schemeClr val="lt1"/>
                        </a:highlight>
                        <a:latin typeface="Cambria Math" panose="02040503050406030204" pitchFamily="18" charset="0"/>
                        <a:ea typeface="Cambria Math" panose="02040503050406030204" pitchFamily="18" charset="0"/>
                      </a:rPr>
                      <m:t>=</m:t>
                    </m:r>
                    <m:f>
                      <m:fPr>
                        <m:type m:val="skw"/>
                        <m:ctrlPr>
                          <a:rPr lang="en-IN" sz="2000" i="1">
                            <a:highlight>
                              <a:schemeClr val="lt1"/>
                            </a:highlight>
                            <a:latin typeface="Cambria Math" panose="02040503050406030204" pitchFamily="18" charset="0"/>
                            <a:ea typeface="Cambria Math" panose="02040503050406030204" pitchFamily="18" charset="0"/>
                          </a:rPr>
                        </m:ctrlPr>
                      </m:fPr>
                      <m:num>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𝐶</m:t>
                            </m:r>
                          </m:sub>
                        </m:sSub>
                      </m:num>
                      <m:den>
                        <m:r>
                          <a:rPr lang="en-IN" sz="2000" i="1">
                            <a:highlight>
                              <a:schemeClr val="lt1"/>
                            </a:highlight>
                            <a:latin typeface="Cambria Math" panose="02040503050406030204" pitchFamily="18" charset="0"/>
                            <a:ea typeface="Cambria Math" panose="02040503050406030204" pitchFamily="18" charset="0"/>
                          </a:rPr>
                          <m:t>𝛽</m:t>
                        </m:r>
                      </m:den>
                    </m:f>
                    <m:r>
                      <a:rPr lang="en-IN" sz="2000">
                        <a:highlight>
                          <a:schemeClr val="lt1"/>
                        </a:highlight>
                        <a:latin typeface="Cambria Math" panose="02040503050406030204" pitchFamily="18" charset="0"/>
                        <a:ea typeface="Cambria Math" panose="02040503050406030204" pitchFamily="18" charset="0"/>
                      </a:rPr>
                      <m:t>=</m:t>
                    </m:r>
                    <m:r>
                      <a:rPr lang="en-IN" sz="2000" i="1">
                        <a:highlight>
                          <a:schemeClr val="lt1"/>
                        </a:highlight>
                        <a:latin typeface="Cambria Math" panose="02040503050406030204" pitchFamily="18" charset="0"/>
                        <a:ea typeface="Cambria Math" panose="02040503050406030204" pitchFamily="18" charset="0"/>
                      </a:rPr>
                      <m:t>0.2</m:t>
                    </m:r>
                    <m:r>
                      <a:rPr lang="en-IN" sz="2000" i="1">
                        <a:highlight>
                          <a:schemeClr val="lt1"/>
                        </a:highlight>
                        <a:latin typeface="Cambria Math" panose="02040503050406030204" pitchFamily="18" charset="0"/>
                        <a:ea typeface="Cambria Math" panose="02040503050406030204" pitchFamily="18" charset="0"/>
                      </a:rPr>
                      <m:t>𝑚𝐴</m:t>
                    </m:r>
                    <m:r>
                      <a:rPr lang="en-IN" sz="2000" i="1">
                        <a:highlight>
                          <a:schemeClr val="lt1"/>
                        </a:highlight>
                        <a:latin typeface="Cambria Math" panose="02040503050406030204" pitchFamily="18" charset="0"/>
                        <a:ea typeface="Cambria Math" panose="02040503050406030204" pitchFamily="18" charset="0"/>
                      </a:rPr>
                      <m:t> → </m:t>
                    </m:r>
                    <m:sSub>
                      <m:sSubPr>
                        <m:ctrlPr>
                          <a:rPr lang="en-IN" sz="2000" i="1">
                            <a:highlight>
                              <a:schemeClr val="lt1"/>
                            </a:highlight>
                            <a:latin typeface="Cambria Math" panose="02040503050406030204" pitchFamily="18" charset="0"/>
                            <a:ea typeface="Cambria Math" panose="02040503050406030204" pitchFamily="18" charset="0"/>
                          </a:rPr>
                        </m:ctrlPr>
                      </m:sSubPr>
                      <m:e>
                        <m:r>
                          <a:rPr lang="en-IN" sz="2000" i="1">
                            <a:highlight>
                              <a:schemeClr val="lt1"/>
                            </a:highlight>
                            <a:latin typeface="Cambria Math" panose="02040503050406030204" pitchFamily="18" charset="0"/>
                            <a:ea typeface="Cambria Math" panose="02040503050406030204" pitchFamily="18" charset="0"/>
                          </a:rPr>
                          <m:t>𝑅</m:t>
                        </m:r>
                      </m:e>
                      <m:sub>
                        <m:r>
                          <a:rPr lang="en-IN" sz="2000" i="1">
                            <a:highlight>
                              <a:schemeClr val="lt1"/>
                            </a:highlight>
                            <a:latin typeface="Cambria Math" panose="02040503050406030204" pitchFamily="18" charset="0"/>
                            <a:ea typeface="Cambria Math" panose="02040503050406030204" pitchFamily="18" charset="0"/>
                          </a:rPr>
                          <m:t>𝑏</m:t>
                        </m:r>
                      </m:sub>
                    </m:sSub>
                    <m:r>
                      <a:rPr lang="en-IN" sz="2000" i="1">
                        <a:highlight>
                          <a:schemeClr val="lt1"/>
                        </a:highlight>
                        <a:latin typeface="Cambria Math" panose="02040503050406030204" pitchFamily="18" charset="0"/>
                        <a:ea typeface="Cambria Math" panose="02040503050406030204" pitchFamily="18" charset="0"/>
                      </a:rPr>
                      <m:t>=</m:t>
                    </m:r>
                    <m:f>
                      <m:fPr>
                        <m:ctrlPr>
                          <a:rPr lang="en-IN" sz="2000" i="1">
                            <a:highlight>
                              <a:schemeClr val="lt1"/>
                            </a:highlight>
                            <a:latin typeface="Cambria Math" panose="02040503050406030204" pitchFamily="18" charset="0"/>
                            <a:ea typeface="Cambria Math" panose="02040503050406030204" pitchFamily="18" charset="0"/>
                          </a:rPr>
                        </m:ctrlPr>
                      </m:fPr>
                      <m:num>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𝑖𝑛</m:t>
                            </m:r>
                          </m:sub>
                        </m:sSub>
                        <m:r>
                          <a:rPr lang="en-IN" sz="2000" i="1">
                            <a:highlight>
                              <a:schemeClr val="lt1"/>
                            </a:highlight>
                            <a:latin typeface="Cambria Math" panose="02040503050406030204" pitchFamily="18" charset="0"/>
                          </a:rPr>
                          <m:t>−</m:t>
                        </m:r>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𝑉</m:t>
                            </m:r>
                          </m:e>
                          <m:sub>
                            <m:r>
                              <a:rPr lang="en-IN" sz="2000" i="1">
                                <a:highlight>
                                  <a:schemeClr val="lt1"/>
                                </a:highlight>
                                <a:latin typeface="Cambria Math" panose="02040503050406030204" pitchFamily="18" charset="0"/>
                              </a:rPr>
                              <m:t>𝐵𝐸</m:t>
                            </m:r>
                          </m:sub>
                        </m:sSub>
                      </m:num>
                      <m:den>
                        <m:sSub>
                          <m:sSubPr>
                            <m:ctrlPr>
                              <a:rPr lang="en-IN" sz="2000" i="1">
                                <a:highlight>
                                  <a:schemeClr val="lt1"/>
                                </a:highlight>
                                <a:latin typeface="Cambria Math" panose="02040503050406030204" pitchFamily="18" charset="0"/>
                              </a:rPr>
                            </m:ctrlPr>
                          </m:sSubPr>
                          <m:e>
                            <m:r>
                              <a:rPr lang="en-IN" sz="2000" i="1">
                                <a:highlight>
                                  <a:schemeClr val="lt1"/>
                                </a:highlight>
                                <a:latin typeface="Cambria Math" panose="02040503050406030204" pitchFamily="18" charset="0"/>
                              </a:rPr>
                              <m:t>𝐼</m:t>
                            </m:r>
                          </m:e>
                          <m:sub>
                            <m:r>
                              <a:rPr lang="en-IN" sz="2000" i="1">
                                <a:highlight>
                                  <a:schemeClr val="lt1"/>
                                </a:highlight>
                                <a:latin typeface="Cambria Math" panose="02040503050406030204" pitchFamily="18" charset="0"/>
                              </a:rPr>
                              <m:t>𝐵</m:t>
                            </m:r>
                          </m:sub>
                        </m:sSub>
                      </m:den>
                    </m:f>
                  </m:oMath>
                </a14:m>
                <a:r>
                  <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rPr>
                  <a:t> = 22k</a:t>
                </a:r>
                <a14:m>
                  <m:oMath xmlns:m="http://schemas.openxmlformats.org/officeDocument/2006/math">
                    <m:r>
                      <m:rPr>
                        <m:sty m:val="p"/>
                      </m:rPr>
                      <a:rPr lang="el-GR" sz="2000" i="1">
                        <a:highlight>
                          <a:schemeClr val="lt1"/>
                        </a:highlight>
                        <a:latin typeface="Cambria Math" panose="02040503050406030204" pitchFamily="18" charset="0"/>
                        <a:ea typeface="Cambria Math" panose="02040503050406030204" pitchFamily="18" charset="0"/>
                      </a:rPr>
                      <m:t>Ω</m:t>
                    </m:r>
                  </m:oMath>
                </a14:m>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highlight>
                      <a:schemeClr val="lt1"/>
                    </a:highlight>
                    <a:latin typeface="Calibri" panose="020F0502020204030204" pitchFamily="34" charset="0"/>
                    <a:ea typeface="Calibri" panose="020F0502020204030204" pitchFamily="34" charset="0"/>
                    <a:cs typeface="Calibri" panose="020F0502020204030204" pitchFamily="34" charset="0"/>
                  </a:rPr>
                  <a:t>The reset is set on only when any signal is received, </a:t>
                </a:r>
              </a:p>
              <a:p>
                <a:pPr lvl="6"/>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Reset is set to 1, when sensor output is “1”.</a:t>
                </a:r>
              </a:p>
              <a:p>
                <a:pPr lvl="1"/>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Reset is set to 0, when sensor output is “0”. This is done by using a pull-down resistor.</a:t>
                </a:r>
              </a:p>
              <a:p>
                <a:pPr marL="0" lvl="0" indent="0" algn="l" rtl="0">
                  <a:spcBef>
                    <a:spcPts val="0"/>
                  </a:spcBef>
                  <a:spcAft>
                    <a:spcPts val="0"/>
                  </a:spcAft>
                  <a:buNone/>
                </a:pPr>
                <a:endParaRPr sz="1800" dirty="0">
                  <a:solidFill>
                    <a:schemeClr val="dk2"/>
                  </a:solidFill>
                  <a:latin typeface="Calibri" panose="020F0502020204030204" pitchFamily="34" charset="0"/>
                  <a:ea typeface="Calibri" panose="020F0502020204030204" pitchFamily="34" charset="0"/>
                  <a:cs typeface="Calibri" panose="020F0502020204030204" pitchFamily="34" charset="0"/>
                  <a:sym typeface="Poppins Light"/>
                </a:endParaRPr>
              </a:p>
            </p:txBody>
          </p:sp>
        </mc:Choice>
        <mc:Fallback xmlns="">
          <p:sp>
            <p:nvSpPr>
              <p:cNvPr id="187" name="Google Shape;187;p24">
                <a:extLst>
                  <a:ext uri="{FF2B5EF4-FFF2-40B4-BE49-F238E27FC236}">
                    <a16:creationId xmlns:a16="http://schemas.microsoft.com/office/drawing/2014/main" id="{6298B540-2F27-63A5-35E1-F8907D95235A}"/>
                  </a:ext>
                </a:extLst>
              </p:cNvPr>
              <p:cNvSpPr txBox="1">
                <a:spLocks noRot="1" noChangeAspect="1" noMove="1" noResize="1" noEditPoints="1" noAdjustHandles="1" noChangeArrowheads="1" noChangeShapeType="1" noTextEdit="1"/>
              </p:cNvSpPr>
              <p:nvPr/>
            </p:nvSpPr>
            <p:spPr>
              <a:xfrm>
                <a:off x="509927" y="913774"/>
                <a:ext cx="11013479" cy="4385814"/>
              </a:xfrm>
              <a:prstGeom prst="rect">
                <a:avLst/>
              </a:prstGeom>
              <a:blipFill>
                <a:blip r:embed="rId3"/>
                <a:stretch>
                  <a:fillRect l="-997" t="-278" b="-17663"/>
                </a:stretch>
              </a:blipFill>
              <a:ln>
                <a:noFill/>
              </a:ln>
            </p:spPr>
            <p:txBody>
              <a:bodyPr/>
              <a:lstStyle/>
              <a:p>
                <a:r>
                  <a:rPr lang="en-IN">
                    <a:noFill/>
                  </a:rPr>
                  <a:t> </a:t>
                </a:r>
              </a:p>
            </p:txBody>
          </p:sp>
        </mc:Fallback>
      </mc:AlternateContent>
      <p:sp>
        <p:nvSpPr>
          <p:cNvPr id="2" name="Rectangle 1">
            <a:extLst>
              <a:ext uri="{FF2B5EF4-FFF2-40B4-BE49-F238E27FC236}">
                <a16:creationId xmlns:a16="http://schemas.microsoft.com/office/drawing/2014/main" id="{5A3924BF-B3EB-7DC2-DE4A-EDF17BF5C6E6}"/>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28817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FF0BE9E3-4339-95E4-6139-AC35E5D6E8DB}"/>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33878D17-0FAF-1371-6ED2-17FA7BFE69B6}"/>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187" name="Google Shape;187;p24">
            <a:extLst>
              <a:ext uri="{FF2B5EF4-FFF2-40B4-BE49-F238E27FC236}">
                <a16:creationId xmlns:a16="http://schemas.microsoft.com/office/drawing/2014/main" id="{F00A3D1E-1FA5-8AEF-2C47-BD39966D32D0}"/>
              </a:ext>
            </a:extLst>
          </p:cNvPr>
          <p:cNvSpPr txBox="1"/>
          <p:nvPr/>
        </p:nvSpPr>
        <p:spPr>
          <a:xfrm>
            <a:off x="456130" y="1157449"/>
            <a:ext cx="5972100" cy="48573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The receiver stage is: </a:t>
            </a:r>
            <a:r>
              <a:rPr lang="en-US" sz="2000" b="1" dirty="0">
                <a:highlight>
                  <a:schemeClr val="lt1"/>
                </a:highlight>
                <a:latin typeface="Calibri" panose="020F0502020204030204" pitchFamily="34" charset="0"/>
                <a:ea typeface="Calibri" panose="020F0502020204030204" pitchFamily="34" charset="0"/>
                <a:cs typeface="Calibri" panose="020F0502020204030204" pitchFamily="34" charset="0"/>
              </a:rPr>
              <a:t>TSOP output → RC smoothing → PNP high-side switch → LED</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a:t>
            </a:r>
          </a:p>
          <a:p>
            <a:pPr marL="342900" indent="-342900">
              <a:buFont typeface="Arial" panose="020B0604020202020204" pitchFamily="34" charset="0"/>
              <a:buChar char="•"/>
            </a:pP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TSOP’s output is active low, so normally TSOP output remains HIGH and Transistor behaves as open switch and LED will be OFF. As soon as TSOP detects Infrared, its output becomes low and transistor behaves as closed switch and LED will be ON.</a:t>
            </a:r>
          </a:p>
          <a:p>
            <a:pPr marL="342900" indent="-342900">
              <a:buFont typeface="Arial" panose="020B0604020202020204" pitchFamily="34" charset="0"/>
              <a:buChar char="•"/>
            </a:pPr>
            <a:r>
              <a:rPr lang="en-US" sz="2000" b="1" dirty="0">
                <a:highlight>
                  <a:schemeClr val="lt1"/>
                </a:highlight>
                <a:latin typeface="Calibri" panose="020F0502020204030204" pitchFamily="34" charset="0"/>
                <a:ea typeface="Calibri" panose="020F0502020204030204" pitchFamily="34" charset="0"/>
                <a:cs typeface="Calibri" panose="020F0502020204030204" pitchFamily="34" charset="0"/>
              </a:rPr>
              <a:t>Why TSOP receiver? </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TSOP operates on particular frequency so that other IRs in the environment can’t interfere, except the modulated IR of particular frequency.</a:t>
            </a:r>
          </a:p>
          <a:p>
            <a:pPr marL="342900" indent="-342900">
              <a:buFont typeface="Arial" panose="020B0604020202020204" pitchFamily="34" charset="0"/>
              <a:buChar char="•"/>
            </a:pP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Use the TSOP version matching the respective channel transmit frequency (17</a:t>
            </a:r>
            <a:r>
              <a:rPr lang="en-US" sz="2000" b="1" dirty="0">
                <a:highlight>
                  <a:schemeClr val="lt1"/>
                </a:highlight>
                <a:latin typeface="Calibri" panose="020F0502020204030204" pitchFamily="34" charset="0"/>
                <a:ea typeface="Calibri" panose="020F0502020204030204" pitchFamily="34" charset="0"/>
                <a:cs typeface="Calibri" panose="020F0502020204030204" pitchFamily="34" charset="0"/>
              </a:rPr>
              <a:t>30</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/17</a:t>
            </a:r>
            <a:r>
              <a:rPr lang="en-US" sz="2000" b="1" dirty="0">
                <a:highlight>
                  <a:schemeClr val="lt1"/>
                </a:highlight>
                <a:latin typeface="Calibri" panose="020F0502020204030204" pitchFamily="34" charset="0"/>
                <a:ea typeface="Calibri" panose="020F0502020204030204" pitchFamily="34" charset="0"/>
                <a:cs typeface="Calibri" panose="020F0502020204030204" pitchFamily="34" charset="0"/>
              </a:rPr>
              <a:t>36</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/17</a:t>
            </a:r>
            <a:r>
              <a:rPr lang="en-US" sz="2000" b="1" dirty="0">
                <a:highlight>
                  <a:schemeClr val="lt1"/>
                </a:highlight>
                <a:latin typeface="Calibri" panose="020F0502020204030204" pitchFamily="34" charset="0"/>
                <a:ea typeface="Calibri" panose="020F0502020204030204" pitchFamily="34" charset="0"/>
                <a:cs typeface="Calibri" panose="020F0502020204030204" pitchFamily="34" charset="0"/>
              </a:rPr>
              <a:t>40</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/17</a:t>
            </a:r>
            <a:r>
              <a:rPr lang="en-US" sz="2000" b="1" dirty="0">
                <a:highlight>
                  <a:schemeClr val="lt1"/>
                </a:highlight>
                <a:latin typeface="Calibri" panose="020F0502020204030204" pitchFamily="34" charset="0"/>
                <a:ea typeface="Calibri" panose="020F0502020204030204" pitchFamily="34" charset="0"/>
                <a:cs typeface="Calibri" panose="020F0502020204030204" pitchFamily="34" charset="0"/>
              </a:rPr>
              <a:t>56</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a:t>
            </a:r>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600" dirty="0">
              <a:solidFill>
                <a:schemeClr val="dk2"/>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8" name="Rectangle 7">
            <a:extLst>
              <a:ext uri="{FF2B5EF4-FFF2-40B4-BE49-F238E27FC236}">
                <a16:creationId xmlns:a16="http://schemas.microsoft.com/office/drawing/2014/main" id="{EE5F34F1-5B2E-6584-77E6-93B1F5B9A5C7}"/>
              </a:ext>
            </a:extLst>
          </p:cNvPr>
          <p:cNvSpPr/>
          <p:nvPr/>
        </p:nvSpPr>
        <p:spPr>
          <a:xfrm>
            <a:off x="438911" y="396824"/>
            <a:ext cx="5989319"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3. Receiver</a:t>
            </a:r>
          </a:p>
        </p:txBody>
      </p:sp>
      <p:pic>
        <p:nvPicPr>
          <p:cNvPr id="3" name="Picture 2">
            <a:extLst>
              <a:ext uri="{FF2B5EF4-FFF2-40B4-BE49-F238E27FC236}">
                <a16:creationId xmlns:a16="http://schemas.microsoft.com/office/drawing/2014/main" id="{10469152-4B2A-18D1-F16D-54A599761652}"/>
              </a:ext>
            </a:extLst>
          </p:cNvPr>
          <p:cNvPicPr>
            <a:picLocks noChangeAspect="1"/>
          </p:cNvPicPr>
          <p:nvPr/>
        </p:nvPicPr>
        <p:blipFill>
          <a:blip r:embed="rId3"/>
          <a:stretch>
            <a:fillRect/>
          </a:stretch>
        </p:blipFill>
        <p:spPr>
          <a:xfrm>
            <a:off x="6428230" y="396824"/>
            <a:ext cx="5334445" cy="5638216"/>
          </a:xfrm>
          <a:prstGeom prst="rect">
            <a:avLst/>
          </a:prstGeom>
        </p:spPr>
      </p:pic>
      <p:sp>
        <p:nvSpPr>
          <p:cNvPr id="2" name="Rectangle 1">
            <a:extLst>
              <a:ext uri="{FF2B5EF4-FFF2-40B4-BE49-F238E27FC236}">
                <a16:creationId xmlns:a16="http://schemas.microsoft.com/office/drawing/2014/main" id="{45265F0F-1CF3-1A2A-271C-EB7A32BB4598}"/>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2442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86F0CB96-6DE8-93AD-162A-5C2FBE90A1AD}"/>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E7F80FEF-EE4E-6269-645C-FB982DBFA627}"/>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 sz="4400" b="0" dirty="0">
                <a:latin typeface="Calibri" panose="020F0502020204030204" pitchFamily="34" charset="0"/>
                <a:ea typeface="Calibri" panose="020F0502020204030204" pitchFamily="34" charset="0"/>
                <a:cs typeface="Calibri" panose="020F0502020204030204" pitchFamily="34" charset="0"/>
                <a:sym typeface="Arial"/>
              </a:rPr>
              <a:t>Calculations:</a:t>
            </a:r>
            <a:endParaRPr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87" name="Google Shape;187;p24">
                <a:extLst>
                  <a:ext uri="{FF2B5EF4-FFF2-40B4-BE49-F238E27FC236}">
                    <a16:creationId xmlns:a16="http://schemas.microsoft.com/office/drawing/2014/main" id="{C338CEF0-3322-1D52-7B01-871F4EA0A198}"/>
                  </a:ext>
                </a:extLst>
              </p:cNvPr>
              <p:cNvSpPr txBox="1"/>
              <p:nvPr/>
            </p:nvSpPr>
            <p:spPr>
              <a:xfrm>
                <a:off x="484374" y="1000350"/>
                <a:ext cx="11223251" cy="48573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IN" sz="2800" dirty="0">
                    <a:highlight>
                      <a:schemeClr val="lt1"/>
                    </a:highlight>
                    <a:latin typeface="Calibri" panose="020F0502020204030204" pitchFamily="34" charset="0"/>
                    <a:ea typeface="Calibri" panose="020F0502020204030204" pitchFamily="34" charset="0"/>
                    <a:cs typeface="Calibri" panose="020F0502020204030204" pitchFamily="34" charset="0"/>
                  </a:rPr>
                  <a:t>Biasing Q1</a:t>
                </a:r>
                <a:r>
                  <a:rPr lang="en-IN" sz="2800" dirty="0">
                    <a:highlight>
                      <a:schemeClr val="lt1"/>
                    </a:highligh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p>
              <a:p>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If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𝐶𝐶</m:t>
                        </m:r>
                      </m:sub>
                    </m:sSub>
                    <m:r>
                      <a:rPr lang="en-IN" sz="2400" i="1">
                        <a:highlight>
                          <a:schemeClr val="lt1"/>
                        </a:highlight>
                        <a:latin typeface="Cambria Math" panose="02040503050406030204" pitchFamily="18" charset="0"/>
                      </a:rPr>
                      <m:t>=5</m:t>
                    </m:r>
                    <m:r>
                      <a:rPr lang="en-IN" sz="2400" i="1">
                        <a:highlight>
                          <a:schemeClr val="lt1"/>
                        </a:highlight>
                        <a:latin typeface="Cambria Math" panose="02040503050406030204" pitchFamily="18" charset="0"/>
                      </a:rPr>
                      <m:t>𝑉</m:t>
                    </m:r>
                    <m:r>
                      <a:rPr lang="en-IN" sz="2400" i="1">
                        <a:highlight>
                          <a:schemeClr val="lt1"/>
                        </a:highlight>
                        <a:latin typeface="Cambria Math" panose="02040503050406030204" pitchFamily="18" charset="0"/>
                      </a:rPr>
                      <m:t>, </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𝐼</m:t>
                        </m:r>
                      </m:e>
                      <m:sub>
                        <m:r>
                          <a:rPr lang="en-IN" sz="2400" i="1">
                            <a:highlight>
                              <a:schemeClr val="lt1"/>
                            </a:highlight>
                            <a:latin typeface="Cambria Math" panose="02040503050406030204" pitchFamily="18" charset="0"/>
                          </a:rPr>
                          <m:t>𝐶</m:t>
                        </m:r>
                      </m:sub>
                    </m:sSub>
                    <m:r>
                      <a:rPr lang="en-IN" sz="2400" i="1">
                        <a:highlight>
                          <a:schemeClr val="lt1"/>
                        </a:highlight>
                        <a:latin typeface="Cambria Math" panose="02040503050406030204" pitchFamily="18" charset="0"/>
                      </a:rPr>
                      <m:t>=6</m:t>
                    </m:r>
                    <m:r>
                      <a:rPr lang="en-IN" sz="2400" i="1">
                        <a:highlight>
                          <a:schemeClr val="lt1"/>
                        </a:highlight>
                        <a:latin typeface="Cambria Math" panose="02040503050406030204" pitchFamily="18" charset="0"/>
                      </a:rPr>
                      <m:t>𝑚𝐴</m:t>
                    </m:r>
                    <m:r>
                      <a:rPr lang="en-IN" sz="2400" i="1">
                        <a:highlight>
                          <a:schemeClr val="lt1"/>
                        </a:highlight>
                        <a:latin typeface="Cambria Math" panose="02040503050406030204" pitchFamily="18" charset="0"/>
                      </a:rPr>
                      <m:t>,  </m:t>
                    </m:r>
                    <m:r>
                      <a:rPr lang="en-IN" sz="2400" i="1">
                        <a:highlight>
                          <a:schemeClr val="lt1"/>
                        </a:highlight>
                        <a:latin typeface="Cambria Math" panose="02040503050406030204" pitchFamily="18" charset="0"/>
                        <a:ea typeface="Cambria Math" panose="02040503050406030204" pitchFamily="18" charset="0"/>
                      </a:rPr>
                      <m:t>𝛽</m:t>
                    </m:r>
                    <m:r>
                      <a:rPr lang="en-IN" sz="2400" i="1">
                        <a:highlight>
                          <a:schemeClr val="lt1"/>
                        </a:highlight>
                        <a:latin typeface="Cambria Math" panose="02040503050406030204" pitchFamily="18" charset="0"/>
                        <a:ea typeface="Cambria Math" panose="02040503050406030204" pitchFamily="18" charset="0"/>
                      </a:rPr>
                      <m:t>=150,</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𝐶𝐸</m:t>
                        </m:r>
                        <m:r>
                          <a:rPr lang="en-IN" sz="2400" i="1">
                            <a:highlight>
                              <a:schemeClr val="lt1"/>
                            </a:highlight>
                            <a:latin typeface="Cambria Math" panose="02040503050406030204" pitchFamily="18" charset="0"/>
                          </a:rPr>
                          <m:t>,</m:t>
                        </m:r>
                        <m:r>
                          <a:rPr lang="en-IN" sz="2400" i="1">
                            <a:highlight>
                              <a:schemeClr val="lt1"/>
                            </a:highlight>
                            <a:latin typeface="Cambria Math" panose="02040503050406030204" pitchFamily="18" charset="0"/>
                          </a:rPr>
                          <m:t>𝑠𝑎𝑡</m:t>
                        </m:r>
                      </m:sub>
                    </m:sSub>
                    <m:r>
                      <a:rPr lang="en-IN" sz="2400" i="1">
                        <a:highlight>
                          <a:schemeClr val="lt1"/>
                        </a:highlight>
                        <a:latin typeface="Cambria Math" panose="02040503050406030204" pitchFamily="18" charset="0"/>
                      </a:rPr>
                      <m:t>=0.2</m:t>
                    </m:r>
                    <m:r>
                      <a:rPr lang="en-IN" sz="2400" i="1">
                        <a:highlight>
                          <a:schemeClr val="lt1"/>
                        </a:highlight>
                        <a:latin typeface="Cambria Math" panose="02040503050406030204" pitchFamily="18" charset="0"/>
                      </a:rPr>
                      <m:t>𝑉</m:t>
                    </m:r>
                    <m:r>
                      <a:rPr lang="en-IN" sz="2400" i="1">
                        <a:highlight>
                          <a:schemeClr val="lt1"/>
                        </a:highlight>
                        <a:latin typeface="Cambria Math" panose="02040503050406030204" pitchFamily="18" charset="0"/>
                      </a:rPr>
                      <m:t>,</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𝐹</m:t>
                        </m:r>
                        <m:r>
                          <a:rPr lang="en-IN" sz="2400" i="1">
                            <a:highlight>
                              <a:schemeClr val="lt1"/>
                            </a:highlight>
                            <a:latin typeface="Cambria Math" panose="02040503050406030204" pitchFamily="18" charset="0"/>
                          </a:rPr>
                          <m:t>,</m:t>
                        </m:r>
                        <m:r>
                          <a:rPr lang="en-IN" sz="2400" i="1">
                            <a:highlight>
                              <a:schemeClr val="lt1"/>
                            </a:highlight>
                            <a:latin typeface="Cambria Math" panose="02040503050406030204" pitchFamily="18" charset="0"/>
                          </a:rPr>
                          <m:t>𝑙𝑒𝑑</m:t>
                        </m:r>
                      </m:sub>
                    </m:sSub>
                    <m:r>
                      <a:rPr lang="en-IN" sz="2400" i="1">
                        <a:highlight>
                          <a:schemeClr val="lt1"/>
                        </a:highlight>
                        <a:latin typeface="Cambria Math" panose="02040503050406030204" pitchFamily="18" charset="0"/>
                      </a:rPr>
                      <m:t>=2.0</m:t>
                    </m:r>
                    <m:r>
                      <a:rPr lang="en-IN" sz="2400" i="1">
                        <a:highlight>
                          <a:schemeClr val="lt1"/>
                        </a:highlight>
                        <a:latin typeface="Cambria Math" panose="02040503050406030204" pitchFamily="18" charset="0"/>
                      </a:rPr>
                      <m:t>𝑉</m:t>
                    </m:r>
                    <m:r>
                      <a:rPr lang="en-IN" sz="2400" i="1">
                        <a:highlight>
                          <a:schemeClr val="lt1"/>
                        </a:highlight>
                        <a:latin typeface="Cambria Math" panose="02040503050406030204" pitchFamily="18" charset="0"/>
                      </a:rPr>
                      <m:t>, </m:t>
                    </m:r>
                    <m:r>
                      <a:rPr lang="en-IN" sz="2400" i="1">
                        <a:highlight>
                          <a:schemeClr val="lt1"/>
                        </a:highlight>
                        <a:latin typeface="Cambria Math" panose="02040503050406030204" pitchFamily="18" charset="0"/>
                        <a:ea typeface="Cambria Math" panose="02040503050406030204" pitchFamily="18" charset="0"/>
                      </a:rPr>
                      <m:t>𝑡h𝑒𝑛</m:t>
                    </m:r>
                  </m:oMath>
                </a14:m>
                <a:endParaRPr lang="en-IN" sz="2400" i="1"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14:m>
                  <m:oMath xmlns:m="http://schemas.openxmlformats.org/officeDocument/2006/math">
                    <m:r>
                      <a:rPr lang="en-IN" sz="2400" i="1">
                        <a:highlight>
                          <a:schemeClr val="lt1"/>
                        </a:highlight>
                        <a:latin typeface="Cambria Math" panose="02040503050406030204" pitchFamily="18" charset="0"/>
                        <a:ea typeface="Cambria Math" panose="02040503050406030204" pitchFamily="18" charset="0"/>
                      </a:rPr>
                      <m:t> </m:t>
                    </m:r>
                    <m:sSub>
                      <m:sSubPr>
                        <m:ctrlPr>
                          <a:rPr lang="en-IN" sz="2400" i="1">
                            <a:highlight>
                              <a:schemeClr val="lt1"/>
                            </a:highlight>
                            <a:latin typeface="Cambria Math" panose="02040503050406030204" pitchFamily="18" charset="0"/>
                            <a:ea typeface="Cambria Math" panose="02040503050406030204" pitchFamily="18" charset="0"/>
                          </a:rPr>
                        </m:ctrlPr>
                      </m:sSubPr>
                      <m:e>
                        <m:r>
                          <a:rPr lang="en-IN" sz="2400" i="1">
                            <a:highlight>
                              <a:schemeClr val="lt1"/>
                            </a:highlight>
                            <a:latin typeface="Cambria Math" panose="02040503050406030204" pitchFamily="18" charset="0"/>
                            <a:ea typeface="Cambria Math" panose="02040503050406030204" pitchFamily="18" charset="0"/>
                          </a:rPr>
                          <m:t>𝑅</m:t>
                        </m:r>
                      </m:e>
                      <m:sub>
                        <m:r>
                          <a:rPr lang="en-IN" sz="2400" i="1">
                            <a:highlight>
                              <a:schemeClr val="lt1"/>
                            </a:highlight>
                            <a:latin typeface="Cambria Math" panose="02040503050406030204" pitchFamily="18" charset="0"/>
                            <a:ea typeface="Cambria Math" panose="02040503050406030204" pitchFamily="18" charset="0"/>
                          </a:rPr>
                          <m:t>𝐶</m:t>
                        </m:r>
                        <m:r>
                          <a:rPr lang="en-IN" sz="2400" i="1">
                            <a:highlight>
                              <a:schemeClr val="lt1"/>
                            </a:highlight>
                            <a:latin typeface="Cambria Math" panose="02040503050406030204" pitchFamily="18" charset="0"/>
                            <a:ea typeface="Cambria Math" panose="02040503050406030204" pitchFamily="18" charset="0"/>
                          </a:rPr>
                          <m:t>,</m:t>
                        </m:r>
                        <m:r>
                          <a:rPr lang="en-IN" sz="2400" i="1">
                            <a:highlight>
                              <a:schemeClr val="lt1"/>
                            </a:highlight>
                            <a:latin typeface="Cambria Math" panose="02040503050406030204" pitchFamily="18" charset="0"/>
                            <a:ea typeface="Cambria Math" panose="02040503050406030204" pitchFamily="18" charset="0"/>
                          </a:rPr>
                          <m:t>𝑚𝑎𝑥</m:t>
                        </m:r>
                      </m:sub>
                    </m:sSub>
                    <m:r>
                      <a:rPr lang="en-IN" sz="2400" i="1">
                        <a:highlight>
                          <a:schemeClr val="lt1"/>
                        </a:highlight>
                        <a:latin typeface="Cambria Math" panose="02040503050406030204" pitchFamily="18" charset="0"/>
                        <a:ea typeface="Cambria Math" panose="02040503050406030204" pitchFamily="18" charset="0"/>
                      </a:rPr>
                      <m:t>=</m:t>
                    </m:r>
                    <m:f>
                      <m:fPr>
                        <m:ctrlPr>
                          <a:rPr lang="en-IN" sz="2400" i="1">
                            <a:highlight>
                              <a:schemeClr val="lt1"/>
                            </a:highlight>
                            <a:latin typeface="Cambria Math" panose="02040503050406030204" pitchFamily="18" charset="0"/>
                            <a:ea typeface="Cambria Math" panose="02040503050406030204" pitchFamily="18" charset="0"/>
                          </a:rPr>
                        </m:ctrlPr>
                      </m:fPr>
                      <m:num>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𝐶𝐶</m:t>
                            </m:r>
                            <m:r>
                              <a:rPr lang="en-IN" sz="2400" i="1">
                                <a:highlight>
                                  <a:schemeClr val="lt1"/>
                                </a:highlight>
                                <a:latin typeface="Cambria Math" panose="02040503050406030204" pitchFamily="18" charset="0"/>
                              </a:rPr>
                              <m:t> </m:t>
                            </m:r>
                          </m:sub>
                        </m:sSub>
                        <m:r>
                          <a:rPr lang="en-IN" sz="2400" i="1">
                            <a:highlight>
                              <a:schemeClr val="lt1"/>
                            </a:highlight>
                            <a:latin typeface="Cambria Math" panose="02040503050406030204" pitchFamily="18" charset="0"/>
                          </a:rPr>
                          <m:t>− </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𝐹</m:t>
                            </m:r>
                          </m:sub>
                        </m:sSub>
                        <m:r>
                          <a:rPr lang="en-IN" sz="2400" i="1">
                            <a:highlight>
                              <a:schemeClr val="lt1"/>
                            </a:highlight>
                            <a:latin typeface="Cambria Math" panose="02040503050406030204" pitchFamily="18" charset="0"/>
                          </a:rPr>
                          <m:t> − </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𝐶𝐸</m:t>
                            </m:r>
                            <m:r>
                              <a:rPr lang="en-IN" sz="2400" i="1">
                                <a:highlight>
                                  <a:schemeClr val="lt1"/>
                                </a:highlight>
                                <a:latin typeface="Cambria Math" panose="02040503050406030204" pitchFamily="18" charset="0"/>
                              </a:rPr>
                              <m:t>,</m:t>
                            </m:r>
                            <m:r>
                              <a:rPr lang="en-IN" sz="2400" i="1">
                                <a:highlight>
                                  <a:schemeClr val="lt1"/>
                                </a:highlight>
                                <a:latin typeface="Cambria Math" panose="02040503050406030204" pitchFamily="18" charset="0"/>
                              </a:rPr>
                              <m:t>𝑠𝑎𝑡</m:t>
                            </m:r>
                          </m:sub>
                        </m:sSub>
                      </m:num>
                      <m:den>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𝐼</m:t>
                            </m:r>
                          </m:e>
                          <m:sub>
                            <m:r>
                              <a:rPr lang="en-IN" sz="2400" i="1">
                                <a:highlight>
                                  <a:schemeClr val="lt1"/>
                                </a:highlight>
                                <a:latin typeface="Cambria Math" panose="02040503050406030204" pitchFamily="18" charset="0"/>
                              </a:rPr>
                              <m:t>𝐶</m:t>
                            </m:r>
                          </m:sub>
                        </m:sSub>
                      </m:den>
                    </m:f>
                  </m:oMath>
                </a14:m>
                <a:r>
                  <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rPr>
                  <a:t> = 467</a:t>
                </a:r>
                <a14:m>
                  <m:oMath xmlns:m="http://schemas.openxmlformats.org/officeDocument/2006/math">
                    <m:r>
                      <m:rPr>
                        <m:sty m:val="p"/>
                      </m:rPr>
                      <a:rPr lang="el-GR" sz="2400" i="1">
                        <a:highlight>
                          <a:schemeClr val="lt1"/>
                        </a:highlight>
                        <a:latin typeface="Cambria Math" panose="02040503050406030204" pitchFamily="18" charset="0"/>
                        <a:ea typeface="Cambria Math" panose="02040503050406030204" pitchFamily="18" charset="0"/>
                      </a:rPr>
                      <m:t>Ω</m:t>
                    </m:r>
                  </m:oMath>
                </a14:m>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 ≈ 470</a:t>
                </a:r>
                <a:r>
                  <a:rPr lang="el-GR" sz="2400" dirty="0">
                    <a:highlight>
                      <a:schemeClr val="lt1"/>
                    </a:highlight>
                    <a:latin typeface="Calibri" panose="020F0502020204030204" pitchFamily="34" charset="0"/>
                    <a:ea typeface="Calibri" panose="020F0502020204030204" pitchFamily="34" charset="0"/>
                    <a:cs typeface="Calibri" panose="020F0502020204030204" pitchFamily="34" charset="0"/>
                  </a:rPr>
                  <a:t>Ω</a:t>
                </a: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 </a:t>
                </a:r>
              </a:p>
              <a:p>
                <a:pPr lvl="1">
                  <a:lnSpc>
                    <a:spcPct val="120000"/>
                  </a:lnSpc>
                </a:pPr>
                <a14:m>
                  <m:oMath xmlns:m="http://schemas.openxmlformats.org/officeDocument/2006/math">
                    <m:sSub>
                      <m:sSubPr>
                        <m:ctrlPr>
                          <a:rPr lang="en-IN" sz="2400" i="1">
                            <a:highlight>
                              <a:schemeClr val="lt1"/>
                            </a:highlight>
                            <a:latin typeface="Cambria Math" panose="02040503050406030204" pitchFamily="18" charset="0"/>
                            <a:ea typeface="Cambria Math" panose="02040503050406030204" pitchFamily="18" charset="0"/>
                          </a:rPr>
                        </m:ctrlPr>
                      </m:sSubPr>
                      <m:e>
                        <m:r>
                          <a:rPr lang="en-IN" sz="2400" i="1">
                            <a:highlight>
                              <a:schemeClr val="lt1"/>
                            </a:highlight>
                            <a:latin typeface="Cambria Math" panose="02040503050406030204" pitchFamily="18" charset="0"/>
                            <a:ea typeface="Cambria Math" panose="02040503050406030204" pitchFamily="18" charset="0"/>
                          </a:rPr>
                          <m:t>𝐼</m:t>
                        </m:r>
                      </m:e>
                      <m:sub>
                        <m:r>
                          <a:rPr lang="en-IN" sz="2400" i="1">
                            <a:highlight>
                              <a:schemeClr val="lt1"/>
                            </a:highlight>
                            <a:latin typeface="Cambria Math" panose="02040503050406030204" pitchFamily="18" charset="0"/>
                            <a:ea typeface="Cambria Math" panose="02040503050406030204" pitchFamily="18" charset="0"/>
                          </a:rPr>
                          <m:t>𝐵</m:t>
                        </m:r>
                      </m:sub>
                    </m:sSub>
                    <m:r>
                      <a:rPr lang="en-IN" sz="2400" i="1">
                        <a:highlight>
                          <a:schemeClr val="lt1"/>
                        </a:highlight>
                        <a:latin typeface="Cambria Math" panose="02040503050406030204" pitchFamily="18" charset="0"/>
                        <a:ea typeface="Cambria Math" panose="02040503050406030204" pitchFamily="18" charset="0"/>
                      </a:rPr>
                      <m:t>=</m:t>
                    </m:r>
                    <m:f>
                      <m:fPr>
                        <m:type m:val="skw"/>
                        <m:ctrlPr>
                          <a:rPr lang="en-IN" sz="2400" i="1">
                            <a:highlight>
                              <a:schemeClr val="lt1"/>
                            </a:highlight>
                            <a:latin typeface="Cambria Math" panose="02040503050406030204" pitchFamily="18" charset="0"/>
                            <a:ea typeface="Cambria Math" panose="02040503050406030204" pitchFamily="18" charset="0"/>
                          </a:rPr>
                        </m:ctrlPr>
                      </m:fPr>
                      <m:num>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𝐼</m:t>
                            </m:r>
                          </m:e>
                          <m:sub>
                            <m:r>
                              <a:rPr lang="en-IN" sz="2400" i="1">
                                <a:highlight>
                                  <a:schemeClr val="lt1"/>
                                </a:highlight>
                                <a:latin typeface="Cambria Math" panose="02040503050406030204" pitchFamily="18" charset="0"/>
                              </a:rPr>
                              <m:t>𝐶</m:t>
                            </m:r>
                          </m:sub>
                        </m:sSub>
                      </m:num>
                      <m:den>
                        <m:r>
                          <a:rPr lang="en-IN" sz="2400" i="1">
                            <a:highlight>
                              <a:schemeClr val="lt1"/>
                            </a:highlight>
                            <a:latin typeface="Cambria Math" panose="02040503050406030204" pitchFamily="18" charset="0"/>
                            <a:ea typeface="Cambria Math" panose="02040503050406030204" pitchFamily="18" charset="0"/>
                          </a:rPr>
                          <m:t>𝛽</m:t>
                        </m:r>
                      </m:den>
                    </m:f>
                    <m:r>
                      <a:rPr lang="en-IN" sz="2400">
                        <a:highlight>
                          <a:schemeClr val="lt1"/>
                        </a:highlight>
                        <a:latin typeface="Cambria Math" panose="02040503050406030204" pitchFamily="18" charset="0"/>
                        <a:ea typeface="Cambria Math" panose="02040503050406030204" pitchFamily="18" charset="0"/>
                      </a:rPr>
                      <m:t>=</m:t>
                    </m:r>
                    <m:r>
                      <a:rPr lang="en-IN" sz="2400" i="1">
                        <a:highlight>
                          <a:schemeClr val="lt1"/>
                        </a:highlight>
                        <a:latin typeface="Cambria Math" panose="02040503050406030204" pitchFamily="18" charset="0"/>
                        <a:ea typeface="Cambria Math" panose="02040503050406030204" pitchFamily="18" charset="0"/>
                      </a:rPr>
                      <m:t>0.3</m:t>
                    </m:r>
                    <m:r>
                      <a:rPr lang="en-IN" sz="2400" i="1">
                        <a:highlight>
                          <a:schemeClr val="lt1"/>
                        </a:highlight>
                        <a:latin typeface="Cambria Math" panose="02040503050406030204" pitchFamily="18" charset="0"/>
                        <a:ea typeface="Cambria Math" panose="02040503050406030204" pitchFamily="18" charset="0"/>
                      </a:rPr>
                      <m:t>𝑚𝐴</m:t>
                    </m:r>
                    <m:r>
                      <a:rPr lang="en-IN" sz="2400" i="1">
                        <a:highlight>
                          <a:schemeClr val="lt1"/>
                        </a:highlight>
                        <a:latin typeface="Cambria Math" panose="02040503050406030204" pitchFamily="18" charset="0"/>
                        <a:ea typeface="Cambria Math" panose="02040503050406030204" pitchFamily="18" charset="0"/>
                      </a:rPr>
                      <m:t> → </m:t>
                    </m:r>
                    <m:sSub>
                      <m:sSubPr>
                        <m:ctrlPr>
                          <a:rPr lang="en-IN" sz="2400" i="1">
                            <a:highlight>
                              <a:schemeClr val="lt1"/>
                            </a:highlight>
                            <a:latin typeface="Cambria Math" panose="02040503050406030204" pitchFamily="18" charset="0"/>
                            <a:ea typeface="Cambria Math" panose="02040503050406030204" pitchFamily="18" charset="0"/>
                          </a:rPr>
                        </m:ctrlPr>
                      </m:sSubPr>
                      <m:e>
                        <m:r>
                          <a:rPr lang="en-IN" sz="2400" i="1">
                            <a:highlight>
                              <a:schemeClr val="lt1"/>
                            </a:highlight>
                            <a:latin typeface="Cambria Math" panose="02040503050406030204" pitchFamily="18" charset="0"/>
                            <a:ea typeface="Cambria Math" panose="02040503050406030204" pitchFamily="18" charset="0"/>
                          </a:rPr>
                          <m:t>𝑅</m:t>
                        </m:r>
                      </m:e>
                      <m:sub>
                        <m:r>
                          <a:rPr lang="en-IN" sz="2400" i="1">
                            <a:highlight>
                              <a:schemeClr val="lt1"/>
                            </a:highlight>
                            <a:latin typeface="Cambria Math" panose="02040503050406030204" pitchFamily="18" charset="0"/>
                            <a:ea typeface="Cambria Math" panose="02040503050406030204" pitchFamily="18" charset="0"/>
                          </a:rPr>
                          <m:t>𝑏</m:t>
                        </m:r>
                      </m:sub>
                    </m:sSub>
                    <m:r>
                      <a:rPr lang="en-IN" sz="2400" i="1">
                        <a:highlight>
                          <a:schemeClr val="lt1"/>
                        </a:highlight>
                        <a:latin typeface="Cambria Math" panose="02040503050406030204" pitchFamily="18" charset="0"/>
                        <a:ea typeface="Cambria Math" panose="02040503050406030204" pitchFamily="18" charset="0"/>
                      </a:rPr>
                      <m:t>=</m:t>
                    </m:r>
                    <m:f>
                      <m:fPr>
                        <m:ctrlPr>
                          <a:rPr lang="en-IN" sz="2400" i="1">
                            <a:highlight>
                              <a:schemeClr val="lt1"/>
                            </a:highlight>
                            <a:latin typeface="Cambria Math" panose="02040503050406030204" pitchFamily="18" charset="0"/>
                            <a:ea typeface="Cambria Math" panose="02040503050406030204" pitchFamily="18" charset="0"/>
                          </a:rPr>
                        </m:ctrlPr>
                      </m:fPr>
                      <m:num>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𝑖𝑛</m:t>
                            </m:r>
                          </m:sub>
                        </m:sSub>
                        <m:r>
                          <a:rPr lang="en-IN" sz="2400" i="1">
                            <a:highlight>
                              <a:schemeClr val="lt1"/>
                            </a:highlight>
                            <a:latin typeface="Cambria Math" panose="02040503050406030204" pitchFamily="18" charset="0"/>
                          </a:rPr>
                          <m:t>−</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𝑉</m:t>
                            </m:r>
                          </m:e>
                          <m:sub>
                            <m:r>
                              <a:rPr lang="en-IN" sz="2400" i="1">
                                <a:highlight>
                                  <a:schemeClr val="lt1"/>
                                </a:highlight>
                                <a:latin typeface="Cambria Math" panose="02040503050406030204" pitchFamily="18" charset="0"/>
                              </a:rPr>
                              <m:t>𝐵𝐸</m:t>
                            </m:r>
                          </m:sub>
                        </m:sSub>
                      </m:num>
                      <m:den>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𝐼</m:t>
                            </m:r>
                          </m:e>
                          <m:sub>
                            <m:r>
                              <a:rPr lang="en-IN" sz="2400" i="1">
                                <a:highlight>
                                  <a:schemeClr val="lt1"/>
                                </a:highlight>
                                <a:latin typeface="Cambria Math" panose="02040503050406030204" pitchFamily="18" charset="0"/>
                              </a:rPr>
                              <m:t>𝐵</m:t>
                            </m:r>
                          </m:sub>
                        </m:sSub>
                      </m:den>
                    </m:f>
                  </m:oMath>
                </a14:m>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 = 10k</a:t>
                </a:r>
                <a14:m>
                  <m:oMath xmlns:m="http://schemas.openxmlformats.org/officeDocument/2006/math">
                    <m:r>
                      <m:rPr>
                        <m:sty m:val="p"/>
                      </m:rPr>
                      <a:rPr lang="el-GR" sz="2400" i="1">
                        <a:highlight>
                          <a:schemeClr val="lt1"/>
                        </a:highlight>
                        <a:latin typeface="Cambria Math" panose="02040503050406030204" pitchFamily="18" charset="0"/>
                        <a:ea typeface="Cambria Math" panose="02040503050406030204" pitchFamily="18" charset="0"/>
                      </a:rPr>
                      <m:t>Ω</m:t>
                    </m:r>
                  </m:oMath>
                </a14:m>
                <a:endPar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20000"/>
                  </a:lnSpc>
                  <a:buFont typeface="Arial" panose="020B0604020202020204" pitchFamily="34" charset="0"/>
                  <a:buChar char="•"/>
                </a:pP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𝐶</m:t>
                        </m:r>
                      </m:e>
                      <m:sub>
                        <m:r>
                          <a:rPr lang="en-IN" sz="2400" i="1">
                            <a:highlight>
                              <a:schemeClr val="lt1"/>
                            </a:highlight>
                            <a:latin typeface="Cambria Math" panose="02040503050406030204" pitchFamily="18" charset="0"/>
                          </a:rPr>
                          <m:t>1</m:t>
                        </m:r>
                      </m:sub>
                    </m:sSub>
                  </m:oMath>
                </a14:m>
                <a:r>
                  <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rPr>
                  <a:t> from OUT to GND averages carrier bursts so the LED doesn’t flicker (smoothens output).         </a:t>
                </a:r>
              </a:p>
              <a:p>
                <a:pPr marL="285750" lvl="1" indent="-285750">
                  <a:lnSpc>
                    <a:spcPct val="120000"/>
                  </a:lnSpc>
                  <a:buFont typeface="Arial" panose="020B0604020202020204" pitchFamily="34" charset="0"/>
                  <a:buChar char="•"/>
                </a:pPr>
                <a:r>
                  <a:rPr lang="el-GR" sz="2400" dirty="0">
                    <a:highlight>
                      <a:schemeClr val="lt1"/>
                    </a:highlight>
                    <a:latin typeface="Calibri" panose="020F0502020204030204" pitchFamily="34" charset="0"/>
                    <a:ea typeface="Calibri" panose="020F0502020204030204" pitchFamily="34" charset="0"/>
                    <a:cs typeface="Calibri" panose="020F0502020204030204" pitchFamily="34" charset="0"/>
                  </a:rPr>
                  <a:t>τ</a:t>
                </a: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1</m:t>
                        </m:r>
                      </m:sub>
                    </m:sSub>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𝐶</m:t>
                        </m:r>
                      </m:e>
                      <m:sub>
                        <m:r>
                          <a:rPr lang="en-IN" sz="2400" i="1">
                            <a:highlight>
                              <a:schemeClr val="lt1"/>
                            </a:highlight>
                            <a:latin typeface="Cambria Math" panose="02040503050406030204" pitchFamily="18" charset="0"/>
                          </a:rPr>
                          <m:t>1</m:t>
                        </m:r>
                      </m:sub>
                    </m:sSub>
                    <m:r>
                      <a:rPr lang="en-IN" sz="2400">
                        <a:highlight>
                          <a:schemeClr val="lt1"/>
                        </a:highlight>
                        <a:latin typeface="Cambria Math" panose="02040503050406030204" pitchFamily="18" charset="0"/>
                      </a:rPr>
                      <m:t>=10</m:t>
                    </m:r>
                    <m:r>
                      <m:rPr>
                        <m:sty m:val="p"/>
                      </m:rPr>
                      <a:rPr lang="en-IN" sz="2400">
                        <a:highlight>
                          <a:schemeClr val="lt1"/>
                        </a:highlight>
                        <a:latin typeface="Cambria Math" panose="02040503050406030204" pitchFamily="18" charset="0"/>
                      </a:rPr>
                      <m:t>ms</m:t>
                    </m:r>
                    <m:r>
                      <a:rPr lang="en-IN" sz="2400">
                        <a:highlight>
                          <a:schemeClr val="lt1"/>
                        </a:highlight>
                        <a:latin typeface="Cambria Math" panose="02040503050406030204" pitchFamily="18" charset="0"/>
                      </a:rPr>
                      <m:t> (</m:t>
                    </m:r>
                    <m:r>
                      <m:rPr>
                        <m:sty m:val="p"/>
                      </m:rPr>
                      <a:rPr lang="en-IN" sz="2400">
                        <a:highlight>
                          <a:schemeClr val="lt1"/>
                        </a:highlight>
                        <a:latin typeface="Cambria Math" panose="02040503050406030204" pitchFamily="18" charset="0"/>
                      </a:rPr>
                      <m:t>typical</m:t>
                    </m:r>
                    <m:r>
                      <a:rPr lang="en-IN" sz="2400">
                        <a:highlight>
                          <a:schemeClr val="lt1"/>
                        </a:highlight>
                        <a:latin typeface="Cambria Math" panose="02040503050406030204" pitchFamily="18" charset="0"/>
                      </a:rPr>
                      <m:t>)</m:t>
                    </m:r>
                  </m:oMath>
                </a14:m>
                <a:endPar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rPr>
                  <a:t>     If </a:t>
                </a:r>
                <a14:m>
                  <m:oMath xmlns:m="http://schemas.openxmlformats.org/officeDocument/2006/math">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𝑅</m:t>
                        </m:r>
                      </m:e>
                      <m:sub>
                        <m:r>
                          <a:rPr lang="en-IN" sz="2400" i="1">
                            <a:highlight>
                              <a:schemeClr val="lt1"/>
                            </a:highlight>
                            <a:latin typeface="Cambria Math" panose="02040503050406030204" pitchFamily="18" charset="0"/>
                          </a:rPr>
                          <m:t>𝐶</m:t>
                        </m:r>
                      </m:sub>
                    </m:sSub>
                    <m:r>
                      <a:rPr lang="en-IN" sz="2400" i="1">
                        <a:highlight>
                          <a:schemeClr val="lt1"/>
                        </a:highlight>
                        <a:latin typeface="Cambria Math" panose="02040503050406030204" pitchFamily="18" charset="0"/>
                      </a:rPr>
                      <m:t>=10</m:t>
                    </m:r>
                    <m:r>
                      <a:rPr lang="en-IN" sz="2400" i="1">
                        <a:highlight>
                          <a:schemeClr val="lt1"/>
                        </a:highlight>
                        <a:latin typeface="Cambria Math" panose="02040503050406030204" pitchFamily="18" charset="0"/>
                      </a:rPr>
                      <m:t>𝑘</m:t>
                    </m:r>
                    <m:r>
                      <m:rPr>
                        <m:sty m:val="p"/>
                      </m:rPr>
                      <a:rPr lang="el-GR" sz="2400" i="1">
                        <a:highlight>
                          <a:schemeClr val="lt1"/>
                        </a:highlight>
                        <a:latin typeface="Cambria Math" panose="02040503050406030204" pitchFamily="18" charset="0"/>
                        <a:ea typeface="Cambria Math" panose="02040503050406030204" pitchFamily="18" charset="0"/>
                      </a:rPr>
                      <m:t>Ω</m:t>
                    </m:r>
                    <m:r>
                      <a:rPr lang="en-IN" sz="2400" i="1">
                        <a:highlight>
                          <a:schemeClr val="lt1"/>
                        </a:highlight>
                        <a:latin typeface="Cambria Math" panose="02040503050406030204" pitchFamily="18" charset="0"/>
                      </a:rPr>
                      <m:t>, </m:t>
                    </m:r>
                    <m:sSub>
                      <m:sSubPr>
                        <m:ctrlPr>
                          <a:rPr lang="en-IN" sz="2400" i="1">
                            <a:highlight>
                              <a:schemeClr val="lt1"/>
                            </a:highlight>
                            <a:latin typeface="Cambria Math" panose="02040503050406030204" pitchFamily="18" charset="0"/>
                          </a:rPr>
                        </m:ctrlPr>
                      </m:sSubPr>
                      <m:e>
                        <m:r>
                          <a:rPr lang="en-IN" sz="2400" i="1">
                            <a:highlight>
                              <a:schemeClr val="lt1"/>
                            </a:highlight>
                            <a:latin typeface="Cambria Math" panose="02040503050406030204" pitchFamily="18" charset="0"/>
                          </a:rPr>
                          <m:t> </m:t>
                        </m:r>
                        <m:r>
                          <a:rPr lang="en-IN" sz="2400" i="1">
                            <a:highlight>
                              <a:schemeClr val="lt1"/>
                            </a:highlight>
                            <a:latin typeface="Cambria Math" panose="02040503050406030204" pitchFamily="18" charset="0"/>
                          </a:rPr>
                          <m:t>𝑡h𝑒𝑛</m:t>
                        </m:r>
                        <m:r>
                          <a:rPr lang="en-IN" sz="2400" i="1">
                            <a:highlight>
                              <a:schemeClr val="lt1"/>
                            </a:highlight>
                            <a:latin typeface="Cambria Math" panose="02040503050406030204" pitchFamily="18" charset="0"/>
                          </a:rPr>
                          <m:t> </m:t>
                        </m:r>
                        <m:r>
                          <a:rPr lang="en-IN" sz="2400" i="1">
                            <a:highlight>
                              <a:schemeClr val="lt1"/>
                            </a:highlight>
                            <a:latin typeface="Cambria Math" panose="02040503050406030204" pitchFamily="18" charset="0"/>
                          </a:rPr>
                          <m:t>𝐶</m:t>
                        </m:r>
                      </m:e>
                      <m:sub>
                        <m:r>
                          <a:rPr lang="en-IN" sz="2400" i="1">
                            <a:highlight>
                              <a:schemeClr val="lt1"/>
                            </a:highlight>
                            <a:latin typeface="Cambria Math" panose="02040503050406030204" pitchFamily="18" charset="0"/>
                          </a:rPr>
                          <m:t>1</m:t>
                        </m:r>
                      </m:sub>
                    </m:sSub>
                    <m:r>
                      <a:rPr lang="en-IN" sz="2400" i="1">
                        <a:highlight>
                          <a:schemeClr val="lt1"/>
                        </a:highlight>
                        <a:latin typeface="Cambria Math" panose="02040503050406030204" pitchFamily="18" charset="0"/>
                      </a:rPr>
                      <m:t>=1</m:t>
                    </m:r>
                    <m:r>
                      <a:rPr lang="en-IN" sz="2400" i="1">
                        <a:highlight>
                          <a:schemeClr val="lt1"/>
                        </a:highlight>
                        <a:latin typeface="Cambria Math" panose="02040503050406030204" pitchFamily="18" charset="0"/>
                        <a:ea typeface="Cambria Math" panose="02040503050406030204" pitchFamily="18" charset="0"/>
                      </a:rPr>
                      <m:t>𝜇</m:t>
                    </m:r>
                    <m:r>
                      <a:rPr lang="en-IN" sz="2400" i="1">
                        <a:highlight>
                          <a:schemeClr val="lt1"/>
                        </a:highlight>
                        <a:latin typeface="Cambria Math" panose="02040503050406030204" pitchFamily="18" charset="0"/>
                        <a:ea typeface="Cambria Math" panose="02040503050406030204" pitchFamily="18" charset="0"/>
                      </a:rPr>
                      <m:t>𝐹</m:t>
                    </m:r>
                  </m:oMath>
                </a14:m>
                <a:endParaRPr lang="en-IN" sz="24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20000"/>
                  </a:lnSpc>
                  <a:buFont typeface="Arial" panose="020B0604020202020204" pitchFamily="34" charset="0"/>
                  <a:buChar char="•"/>
                </a:pPr>
                <a:r>
                  <a:rPr lang="en-US" sz="2400" dirty="0">
                    <a:highlight>
                      <a:schemeClr val="lt1"/>
                    </a:highlight>
                    <a:latin typeface="Calibri" panose="020F0502020204030204" pitchFamily="34" charset="0"/>
                    <a:ea typeface="Calibri" panose="020F0502020204030204" pitchFamily="34" charset="0"/>
                    <a:cs typeface="Calibri" panose="020F0502020204030204" pitchFamily="34" charset="0"/>
                  </a:rPr>
                  <a:t>The TSOP itself is the demodulator, so the OUT pin already carries the baseband data. Therefore, no external demodulator circuit is required.</a:t>
                </a:r>
                <a:endParaRPr lang="en-IN" sz="2000" dirty="0">
                  <a:highlight>
                    <a:schemeClr val="lt1"/>
                  </a:highligh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2000" dirty="0">
                  <a:solidFill>
                    <a:schemeClr val="dk2"/>
                  </a:solidFill>
                  <a:latin typeface="Calibri" panose="020F0502020204030204" pitchFamily="34" charset="0"/>
                  <a:ea typeface="Calibri" panose="020F0502020204030204" pitchFamily="34" charset="0"/>
                  <a:cs typeface="Calibri" panose="020F0502020204030204" pitchFamily="34" charset="0"/>
                  <a:sym typeface="Poppins Light"/>
                </a:endParaRPr>
              </a:p>
            </p:txBody>
          </p:sp>
        </mc:Choice>
        <mc:Fallback xmlns="">
          <p:sp>
            <p:nvSpPr>
              <p:cNvPr id="187" name="Google Shape;187;p24">
                <a:extLst>
                  <a:ext uri="{FF2B5EF4-FFF2-40B4-BE49-F238E27FC236}">
                    <a16:creationId xmlns:a16="http://schemas.microsoft.com/office/drawing/2014/main" id="{C338CEF0-3322-1D52-7B01-871F4EA0A198}"/>
                  </a:ext>
                </a:extLst>
              </p:cNvPr>
              <p:cNvSpPr txBox="1">
                <a:spLocks noRot="1" noChangeAspect="1" noMove="1" noResize="1" noEditPoints="1" noAdjustHandles="1" noChangeArrowheads="1" noChangeShapeType="1" noTextEdit="1"/>
              </p:cNvSpPr>
              <p:nvPr/>
            </p:nvSpPr>
            <p:spPr>
              <a:xfrm>
                <a:off x="484374" y="1000350"/>
                <a:ext cx="11223251" cy="4857300"/>
              </a:xfrm>
              <a:prstGeom prst="rect">
                <a:avLst/>
              </a:prstGeom>
              <a:blipFill>
                <a:blip r:embed="rId3"/>
                <a:stretch>
                  <a:fillRect l="-977" t="-251" r="-54" b="-4015"/>
                </a:stretch>
              </a:blipFill>
              <a:ln>
                <a:noFill/>
              </a:ln>
            </p:spPr>
            <p:txBody>
              <a:bodyPr/>
              <a:lstStyle/>
              <a:p>
                <a:r>
                  <a:rPr lang="en-IN">
                    <a:noFill/>
                  </a:rPr>
                  <a:t> </a:t>
                </a:r>
              </a:p>
            </p:txBody>
          </p:sp>
        </mc:Fallback>
      </mc:AlternateContent>
      <p:sp>
        <p:nvSpPr>
          <p:cNvPr id="2" name="Rectangle 1">
            <a:extLst>
              <a:ext uri="{FF2B5EF4-FFF2-40B4-BE49-F238E27FC236}">
                <a16:creationId xmlns:a16="http://schemas.microsoft.com/office/drawing/2014/main" id="{35247943-096E-799C-A99B-B1332E668BB4}"/>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9909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F4CD04CA-F3C1-5302-7EAA-93D59C747917}"/>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716859D2-CD13-3ED0-CAC0-4DBE4741773E}"/>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187" name="Google Shape;187;p24">
            <a:extLst>
              <a:ext uri="{FF2B5EF4-FFF2-40B4-BE49-F238E27FC236}">
                <a16:creationId xmlns:a16="http://schemas.microsoft.com/office/drawing/2014/main" id="{40381340-A9F2-6AEC-F6C2-225EBB4D747A}"/>
              </a:ext>
            </a:extLst>
          </p:cNvPr>
          <p:cNvSpPr txBox="1"/>
          <p:nvPr/>
        </p:nvSpPr>
        <p:spPr>
          <a:xfrm>
            <a:off x="539425" y="1051425"/>
            <a:ext cx="5972100" cy="48573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When the fall detected by the tilt sensor, it will produce trigger signal and it triggers the timer IC 555 which produces monostable timing pulse up to 120 sec. </a:t>
            </a:r>
          </a:p>
          <a:p>
            <a:pPr lvl="1"/>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         T = 1.1 x R x C </a:t>
            </a:r>
          </a:p>
          <a:p>
            <a:pPr lvl="1"/>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         120 = 1.1 x R x 100µ </a:t>
            </a:r>
          </a:p>
          <a:p>
            <a:pPr lvl="1"/>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         R = 1.1 M</a:t>
            </a:r>
            <a:r>
              <a:rPr lang="el-GR" sz="2000" dirty="0">
                <a:highlight>
                  <a:schemeClr val="lt1"/>
                </a:highlight>
                <a:latin typeface="Calibri" panose="020F0502020204030204" pitchFamily="34" charset="0"/>
                <a:ea typeface="Calibri" panose="020F0502020204030204" pitchFamily="34" charset="0"/>
                <a:cs typeface="Calibri" panose="020F0502020204030204" pitchFamily="34" charset="0"/>
              </a:rPr>
              <a:t>Ω</a:t>
            </a: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The output pulse taken from pin 3 is applied to the NPN transistor BC547, here the Q1 reacts as switching device and makes contact between buzzer, LED to ground supply and lasts up to mono pulse end. This is also given to the motor driver circuit as enable.</a:t>
            </a:r>
          </a:p>
          <a:p>
            <a:pPr marL="342900" indent="-342900">
              <a:buFont typeface="Arial" panose="020B0604020202020204" pitchFamily="34" charset="0"/>
              <a:buChar char="•"/>
            </a:pPr>
            <a:r>
              <a:rPr lang="en-US" sz="2000" dirty="0">
                <a:highlight>
                  <a:schemeClr val="lt1"/>
                </a:highlight>
                <a:latin typeface="Calibri" panose="020F0502020204030204" pitchFamily="34" charset="0"/>
                <a:ea typeface="Calibri" panose="020F0502020204030204" pitchFamily="34" charset="0"/>
                <a:cs typeface="Calibri" panose="020F0502020204030204" pitchFamily="34" charset="0"/>
              </a:rPr>
              <a:t>If fall detected, the enable of the motor driver circuit should be low and hence stop the wheels from moving.</a:t>
            </a:r>
          </a:p>
          <a:p>
            <a:pPr marL="0" lvl="0" indent="0" algn="l" rtl="0">
              <a:spcBef>
                <a:spcPts val="0"/>
              </a:spcBef>
              <a:spcAft>
                <a:spcPts val="0"/>
              </a:spcAft>
              <a:buNone/>
            </a:pPr>
            <a:endParaRPr sz="1600" dirty="0">
              <a:solidFill>
                <a:schemeClr val="dk2"/>
              </a:solidFill>
              <a:latin typeface="Calibri" panose="020F0502020204030204" pitchFamily="34" charset="0"/>
              <a:ea typeface="Calibri" panose="020F0502020204030204" pitchFamily="34" charset="0"/>
              <a:cs typeface="Calibri" panose="020F0502020204030204" pitchFamily="34" charset="0"/>
              <a:sym typeface="Poppins Light"/>
            </a:endParaRPr>
          </a:p>
        </p:txBody>
      </p:sp>
      <p:sp>
        <p:nvSpPr>
          <p:cNvPr id="8" name="Rectangle 7">
            <a:extLst>
              <a:ext uri="{FF2B5EF4-FFF2-40B4-BE49-F238E27FC236}">
                <a16:creationId xmlns:a16="http://schemas.microsoft.com/office/drawing/2014/main" id="{89D16C6D-7B78-5B37-2694-5356B5240285}"/>
              </a:ext>
            </a:extLst>
          </p:cNvPr>
          <p:cNvSpPr/>
          <p:nvPr/>
        </p:nvSpPr>
        <p:spPr>
          <a:xfrm>
            <a:off x="438911" y="396824"/>
            <a:ext cx="5989319"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4. Fall Detection</a:t>
            </a:r>
          </a:p>
        </p:txBody>
      </p:sp>
      <p:pic>
        <p:nvPicPr>
          <p:cNvPr id="6" name="Picture 5">
            <a:extLst>
              <a:ext uri="{FF2B5EF4-FFF2-40B4-BE49-F238E27FC236}">
                <a16:creationId xmlns:a16="http://schemas.microsoft.com/office/drawing/2014/main" id="{BD586CDF-B45E-1589-AF54-BCF6FACD6BD5}"/>
              </a:ext>
            </a:extLst>
          </p:cNvPr>
          <p:cNvPicPr>
            <a:picLocks noChangeAspect="1"/>
          </p:cNvPicPr>
          <p:nvPr/>
        </p:nvPicPr>
        <p:blipFill>
          <a:blip r:embed="rId3"/>
          <a:stretch>
            <a:fillRect/>
          </a:stretch>
        </p:blipFill>
        <p:spPr>
          <a:xfrm>
            <a:off x="6302231" y="396823"/>
            <a:ext cx="5450858" cy="5409752"/>
          </a:xfrm>
          <a:prstGeom prst="rect">
            <a:avLst/>
          </a:prstGeom>
        </p:spPr>
      </p:pic>
      <p:sp>
        <p:nvSpPr>
          <p:cNvPr id="2" name="Rectangle 1">
            <a:extLst>
              <a:ext uri="{FF2B5EF4-FFF2-40B4-BE49-F238E27FC236}">
                <a16:creationId xmlns:a16="http://schemas.microsoft.com/office/drawing/2014/main" id="{7B8A7687-C1B5-AECA-8564-A7CE1AE21644}"/>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0369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2144978E-3DB4-1471-980D-096078FFFA44}"/>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394D2BF9-9A2F-C7DB-A1EF-7C4F3E90E81E}"/>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187" name="Google Shape;187;p24">
            <a:extLst>
              <a:ext uri="{FF2B5EF4-FFF2-40B4-BE49-F238E27FC236}">
                <a16:creationId xmlns:a16="http://schemas.microsoft.com/office/drawing/2014/main" id="{8A2D3778-3209-1B5F-9E60-96F72262219F}"/>
              </a:ext>
            </a:extLst>
          </p:cNvPr>
          <p:cNvSpPr txBox="1"/>
          <p:nvPr/>
        </p:nvSpPr>
        <p:spPr>
          <a:xfrm>
            <a:off x="429325" y="1051424"/>
            <a:ext cx="6171168" cy="4877427"/>
          </a:xfrm>
          <a:prstGeom prst="rect">
            <a:avLst/>
          </a:prstGeom>
          <a:noFill/>
          <a:ln>
            <a:noFill/>
          </a:ln>
        </p:spPr>
        <p:txBody>
          <a:bodyPr spcFirstLastPara="1" wrap="square" lIns="91425" tIns="91425" rIns="91425" bIns="91425" anchor="t" anchorCtr="0">
            <a:noAutofit/>
          </a:bodyPr>
          <a:lstStyle/>
          <a:p>
            <a:pPr marL="342900" lvl="0" indent="-342900">
              <a:lnSpc>
                <a:spcPct val="114999"/>
              </a:lnSpc>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Two IR sensors are placed in the front(5cm above the ground level), two sensors at knee level, and one at the back. </a:t>
            </a:r>
          </a:p>
          <a:p>
            <a:pPr marL="342900" lvl="0" indent="-342900">
              <a:lnSpc>
                <a:spcPct val="114999"/>
              </a:lnSpc>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Each IR sensor detects obstacles up to knee length in front of the wheelchair.</a:t>
            </a:r>
          </a:p>
          <a:p>
            <a:pPr marL="0" lvl="0" indent="0">
              <a:lnSpc>
                <a:spcPct val="114999"/>
              </a:lnSpc>
              <a:buNone/>
            </a:pPr>
            <a:r>
              <a:rPr lang="en-US" sz="2400" dirty="0">
                <a:latin typeface="Calibri" panose="020F0502020204030204" pitchFamily="34" charset="0"/>
                <a:ea typeface="Calibri" panose="020F0502020204030204" pitchFamily="34" charset="0"/>
                <a:cs typeface="Calibri" panose="020F0502020204030204" pitchFamily="34" charset="0"/>
              </a:rPr>
              <a:t> When an obstacle is detected:</a:t>
            </a:r>
          </a:p>
          <a:p>
            <a:pPr marL="342900" lvl="0" indent="-342900">
              <a:lnSpc>
                <a:spcPct val="114999"/>
              </a:lnSpc>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IR sensor output becomes HIGH (logic 1).</a:t>
            </a:r>
          </a:p>
          <a:p>
            <a:pPr marL="342900" lvl="0" indent="-342900">
              <a:lnSpc>
                <a:spcPct val="114999"/>
              </a:lnSpc>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If the path is clear, the output remains LOW</a:t>
            </a:r>
          </a:p>
          <a:p>
            <a:pPr marL="342900" lvl="0" indent="-342900">
              <a:lnSpc>
                <a:spcPct val="114999"/>
              </a:lnSpc>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If any one IR sensor detects an obstacle, the enable circuit sends a stop signal to the motor, ensuring user safety.</a:t>
            </a:r>
          </a:p>
        </p:txBody>
      </p:sp>
      <p:sp>
        <p:nvSpPr>
          <p:cNvPr id="8" name="Rectangle 7">
            <a:extLst>
              <a:ext uri="{FF2B5EF4-FFF2-40B4-BE49-F238E27FC236}">
                <a16:creationId xmlns:a16="http://schemas.microsoft.com/office/drawing/2014/main" id="{CA2031BB-0ADD-C4EE-4210-9797F1A32A13}"/>
              </a:ext>
            </a:extLst>
          </p:cNvPr>
          <p:cNvSpPr/>
          <p:nvPr/>
        </p:nvSpPr>
        <p:spPr>
          <a:xfrm>
            <a:off x="438911" y="396824"/>
            <a:ext cx="5989319"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Poppins" panose="00000500000000000000" pitchFamily="2" charset="0"/>
                <a:cs typeface="Poppins" panose="00000500000000000000" pitchFamily="2" charset="0"/>
              </a:rPr>
              <a:t>5</a:t>
            </a:r>
            <a:r>
              <a:rPr lang="en-IN" sz="4000" dirty="0">
                <a:latin typeface="Poppins" panose="00000500000000000000" pitchFamily="2" charset="0"/>
                <a:cs typeface="Poppins" panose="00000500000000000000" pitchFamily="2" charset="0"/>
              </a:rPr>
              <a:t>. Obstacle Avoidance</a:t>
            </a:r>
          </a:p>
        </p:txBody>
      </p:sp>
      <p:sp>
        <p:nvSpPr>
          <p:cNvPr id="2" name="Rectangle 1">
            <a:extLst>
              <a:ext uri="{FF2B5EF4-FFF2-40B4-BE49-F238E27FC236}">
                <a16:creationId xmlns:a16="http://schemas.microsoft.com/office/drawing/2014/main" id="{43350F82-D3AD-6B4E-2826-17A8BD06BE0C}"/>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2AFB6453-8579-8BDA-024C-15F1679DF5CC}"/>
              </a:ext>
            </a:extLst>
          </p:cNvPr>
          <p:cNvPicPr>
            <a:picLocks noChangeAspect="1"/>
          </p:cNvPicPr>
          <p:nvPr/>
        </p:nvPicPr>
        <p:blipFill>
          <a:blip r:embed="rId3"/>
          <a:srcRect l="1760" t="14756"/>
          <a:stretch>
            <a:fillRect/>
          </a:stretch>
        </p:blipFill>
        <p:spPr>
          <a:xfrm>
            <a:off x="6401425" y="1622322"/>
            <a:ext cx="5347591" cy="3431458"/>
          </a:xfrm>
          <a:prstGeom prst="rect">
            <a:avLst/>
          </a:prstGeom>
        </p:spPr>
      </p:pic>
    </p:spTree>
    <p:extLst>
      <p:ext uri="{BB962C8B-B14F-4D97-AF65-F5344CB8AC3E}">
        <p14:creationId xmlns:p14="http://schemas.microsoft.com/office/powerpoint/2010/main" val="37710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66949EFB-CC48-5200-109B-22DC459C7CFB}"/>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5BBD0170-027D-AFE1-A296-BFF5EEDE3D05}"/>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8" name="Rectangle 7">
            <a:extLst>
              <a:ext uri="{FF2B5EF4-FFF2-40B4-BE49-F238E27FC236}">
                <a16:creationId xmlns:a16="http://schemas.microsoft.com/office/drawing/2014/main" id="{6BCDF90C-13CF-6A81-78AC-CC5DF89E3564}"/>
              </a:ext>
            </a:extLst>
          </p:cNvPr>
          <p:cNvSpPr/>
          <p:nvPr/>
        </p:nvSpPr>
        <p:spPr>
          <a:xfrm>
            <a:off x="438911" y="396824"/>
            <a:ext cx="11314178"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6. Motor Driver Circuit</a:t>
            </a:r>
          </a:p>
        </p:txBody>
      </p:sp>
      <p:sp>
        <p:nvSpPr>
          <p:cNvPr id="2" name="Rectangle 1">
            <a:extLst>
              <a:ext uri="{FF2B5EF4-FFF2-40B4-BE49-F238E27FC236}">
                <a16:creationId xmlns:a16="http://schemas.microsoft.com/office/drawing/2014/main" id="{718D116D-B99A-B3F8-2234-5AAA741B2370}"/>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pic>
        <p:nvPicPr>
          <p:cNvPr id="4" name="Picture 3">
            <a:extLst>
              <a:ext uri="{FF2B5EF4-FFF2-40B4-BE49-F238E27FC236}">
                <a16:creationId xmlns:a16="http://schemas.microsoft.com/office/drawing/2014/main" id="{E4C2E97B-3910-0333-05B5-2094B70960C9}"/>
              </a:ext>
            </a:extLst>
          </p:cNvPr>
          <p:cNvPicPr>
            <a:picLocks noChangeAspect="1"/>
          </p:cNvPicPr>
          <p:nvPr/>
        </p:nvPicPr>
        <p:blipFill>
          <a:blip r:embed="rId3"/>
          <a:srcRect t="5369" b="7865"/>
          <a:stretch>
            <a:fillRect/>
          </a:stretch>
        </p:blipFill>
        <p:spPr>
          <a:xfrm>
            <a:off x="1098754" y="1130709"/>
            <a:ext cx="9697065" cy="4857135"/>
          </a:xfrm>
          <a:prstGeom prst="rect">
            <a:avLst/>
          </a:prstGeom>
        </p:spPr>
      </p:pic>
    </p:spTree>
    <p:extLst>
      <p:ext uri="{BB962C8B-B14F-4D97-AF65-F5344CB8AC3E}">
        <p14:creationId xmlns:p14="http://schemas.microsoft.com/office/powerpoint/2010/main" val="3927647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E10D2B7B-E65B-E7E1-1AC9-533238D514B6}"/>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0A58D1F4-49EC-061C-04DC-4ACC851713F1}"/>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187" name="Google Shape;187;p24">
            <a:extLst>
              <a:ext uri="{FF2B5EF4-FFF2-40B4-BE49-F238E27FC236}">
                <a16:creationId xmlns:a16="http://schemas.microsoft.com/office/drawing/2014/main" id="{323698EC-DB50-65C2-0FE0-1A2FDF634B11}"/>
              </a:ext>
            </a:extLst>
          </p:cNvPr>
          <p:cNvSpPr txBox="1"/>
          <p:nvPr/>
        </p:nvSpPr>
        <p:spPr>
          <a:xfrm>
            <a:off x="539425" y="1051425"/>
            <a:ext cx="5972100" cy="3932056"/>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L293D is a quadruple half-H driver IC that can drive </a:t>
            </a:r>
            <a:r>
              <a:rPr lang="en-US" sz="2000" b="1" dirty="0">
                <a:latin typeface="Calibri" panose="020F0502020204030204" pitchFamily="34" charset="0"/>
                <a:ea typeface="Calibri" panose="020F0502020204030204" pitchFamily="34" charset="0"/>
                <a:cs typeface="Calibri" panose="020F0502020204030204" pitchFamily="34" charset="0"/>
              </a:rPr>
              <a:t>two DC motors </a:t>
            </a:r>
            <a:r>
              <a:rPr lang="en-US" sz="2000" dirty="0">
                <a:latin typeface="Calibri" panose="020F0502020204030204" pitchFamily="34" charset="0"/>
                <a:ea typeface="Calibri" panose="020F0502020204030204" pitchFamily="34" charset="0"/>
                <a:cs typeface="Calibri" panose="020F0502020204030204" pitchFamily="34" charset="0"/>
              </a:rPr>
              <a:t>in both directions.</a:t>
            </a:r>
          </a:p>
          <a:p>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b="1" dirty="0">
                <a:latin typeface="Calibri" panose="020F0502020204030204" pitchFamily="34" charset="0"/>
                <a:ea typeface="Calibri" panose="020F0502020204030204" pitchFamily="34" charset="0"/>
                <a:cs typeface="Calibri" panose="020F0502020204030204" pitchFamily="34" charset="0"/>
              </a:rPr>
              <a:t>IR receiver outputs</a:t>
            </a:r>
            <a:r>
              <a:rPr lang="en-US" sz="2000" dirty="0">
                <a:latin typeface="Calibri" panose="020F0502020204030204" pitchFamily="34" charset="0"/>
                <a:ea typeface="Calibri" panose="020F0502020204030204" pitchFamily="34" charset="0"/>
                <a:cs typeface="Calibri" panose="020F0502020204030204" pitchFamily="34" charset="0"/>
              </a:rPr>
              <a:t> are usually </a:t>
            </a:r>
            <a:r>
              <a:rPr lang="en-US" sz="2000" b="1" dirty="0">
                <a:latin typeface="Calibri" panose="020F0502020204030204" pitchFamily="34" charset="0"/>
                <a:ea typeface="Calibri" panose="020F0502020204030204" pitchFamily="34" charset="0"/>
                <a:cs typeface="Calibri" panose="020F0502020204030204" pitchFamily="34" charset="0"/>
              </a:rPr>
              <a:t>active-low. </a:t>
            </a:r>
            <a:r>
              <a:rPr lang="en-US" sz="2000" dirty="0">
                <a:latin typeface="Calibri" panose="020F0502020204030204" pitchFamily="34" charset="0"/>
                <a:ea typeface="Calibri" panose="020F0502020204030204" pitchFamily="34" charset="0"/>
                <a:cs typeface="Calibri" panose="020F0502020204030204" pitchFamily="34" charset="0"/>
              </a:rPr>
              <a:t>When control signals are applied at </a:t>
            </a:r>
            <a:r>
              <a:rPr lang="en-US" sz="2000" b="1" dirty="0">
                <a:latin typeface="Calibri" panose="020F0502020204030204" pitchFamily="34" charset="0"/>
                <a:ea typeface="Calibri" panose="020F0502020204030204" pitchFamily="34" charset="0"/>
                <a:cs typeface="Calibri" panose="020F0502020204030204" pitchFamily="34" charset="0"/>
              </a:rPr>
              <a:t>PNP transistor </a:t>
            </a:r>
            <a:r>
              <a:rPr lang="en-US" sz="2000" dirty="0">
                <a:latin typeface="Calibri" panose="020F0502020204030204" pitchFamily="34" charset="0"/>
                <a:ea typeface="Calibri" panose="020F0502020204030204" pitchFamily="34" charset="0"/>
                <a:cs typeface="Calibri" panose="020F0502020204030204" pitchFamily="34" charset="0"/>
              </a:rPr>
              <a:t>bases, they switch the corresponding L293D input lines. They provide current amplification and allow external signals to directly operate the motor inputs.</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E7DA086-FCF5-E7B0-0959-BD7AF6C4673F}"/>
              </a:ext>
            </a:extLst>
          </p:cNvPr>
          <p:cNvSpPr/>
          <p:nvPr/>
        </p:nvSpPr>
        <p:spPr>
          <a:xfrm>
            <a:off x="438911" y="396824"/>
            <a:ext cx="11301983"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6. Motor Driver Circuit - Analysis</a:t>
            </a:r>
          </a:p>
        </p:txBody>
      </p:sp>
      <p:graphicFrame>
        <p:nvGraphicFramePr>
          <p:cNvPr id="2" name="Content Placeholder 3">
            <a:extLst>
              <a:ext uri="{FF2B5EF4-FFF2-40B4-BE49-F238E27FC236}">
                <a16:creationId xmlns:a16="http://schemas.microsoft.com/office/drawing/2014/main" id="{46535E7C-EECF-76F9-F56A-CE4363FEB716}"/>
              </a:ext>
            </a:extLst>
          </p:cNvPr>
          <p:cNvGraphicFramePr>
            <a:graphicFrameLocks/>
          </p:cNvGraphicFramePr>
          <p:nvPr>
            <p:extLst>
              <p:ext uri="{D42A27DB-BD31-4B8C-83A1-F6EECF244321}">
                <p14:modId xmlns:p14="http://schemas.microsoft.com/office/powerpoint/2010/main" val="3070166056"/>
              </p:ext>
            </p:extLst>
          </p:nvPr>
        </p:nvGraphicFramePr>
        <p:xfrm>
          <a:off x="438910" y="3986783"/>
          <a:ext cx="11301984" cy="2087885"/>
        </p:xfrm>
        <a:graphic>
          <a:graphicData uri="http://schemas.openxmlformats.org/drawingml/2006/table">
            <a:tbl>
              <a:tblPr firstRow="1" bandRow="1">
                <a:tableStyleId>{073A0DAA-6AF3-43AB-8588-CEC1D06C72B9}</a:tableStyleId>
              </a:tblPr>
              <a:tblGrid>
                <a:gridCol w="1258417">
                  <a:extLst>
                    <a:ext uri="{9D8B030D-6E8A-4147-A177-3AD203B41FA5}">
                      <a16:colId xmlns:a16="http://schemas.microsoft.com/office/drawing/2014/main" val="1908075268"/>
                    </a:ext>
                  </a:extLst>
                </a:gridCol>
                <a:gridCol w="1255446">
                  <a:extLst>
                    <a:ext uri="{9D8B030D-6E8A-4147-A177-3AD203B41FA5}">
                      <a16:colId xmlns:a16="http://schemas.microsoft.com/office/drawing/2014/main" val="3626112540"/>
                    </a:ext>
                  </a:extLst>
                </a:gridCol>
                <a:gridCol w="1255446">
                  <a:extLst>
                    <a:ext uri="{9D8B030D-6E8A-4147-A177-3AD203B41FA5}">
                      <a16:colId xmlns:a16="http://schemas.microsoft.com/office/drawing/2014/main" val="2629821188"/>
                    </a:ext>
                  </a:extLst>
                </a:gridCol>
                <a:gridCol w="1185223">
                  <a:extLst>
                    <a:ext uri="{9D8B030D-6E8A-4147-A177-3AD203B41FA5}">
                      <a16:colId xmlns:a16="http://schemas.microsoft.com/office/drawing/2014/main" val="846128995"/>
                    </a:ext>
                  </a:extLst>
                </a:gridCol>
                <a:gridCol w="1325668">
                  <a:extLst>
                    <a:ext uri="{9D8B030D-6E8A-4147-A177-3AD203B41FA5}">
                      <a16:colId xmlns:a16="http://schemas.microsoft.com/office/drawing/2014/main" val="1017902813"/>
                    </a:ext>
                  </a:extLst>
                </a:gridCol>
                <a:gridCol w="1255446">
                  <a:extLst>
                    <a:ext uri="{9D8B030D-6E8A-4147-A177-3AD203B41FA5}">
                      <a16:colId xmlns:a16="http://schemas.microsoft.com/office/drawing/2014/main" val="2758932860"/>
                    </a:ext>
                  </a:extLst>
                </a:gridCol>
                <a:gridCol w="1255446">
                  <a:extLst>
                    <a:ext uri="{9D8B030D-6E8A-4147-A177-3AD203B41FA5}">
                      <a16:colId xmlns:a16="http://schemas.microsoft.com/office/drawing/2014/main" val="2637449681"/>
                    </a:ext>
                  </a:extLst>
                </a:gridCol>
                <a:gridCol w="1255446">
                  <a:extLst>
                    <a:ext uri="{9D8B030D-6E8A-4147-A177-3AD203B41FA5}">
                      <a16:colId xmlns:a16="http://schemas.microsoft.com/office/drawing/2014/main" val="3350590000"/>
                    </a:ext>
                  </a:extLst>
                </a:gridCol>
                <a:gridCol w="1255446">
                  <a:extLst>
                    <a:ext uri="{9D8B030D-6E8A-4147-A177-3AD203B41FA5}">
                      <a16:colId xmlns:a16="http://schemas.microsoft.com/office/drawing/2014/main" val="3409491549"/>
                    </a:ext>
                  </a:extLst>
                </a:gridCol>
              </a:tblGrid>
              <a:tr h="293110">
                <a:tc>
                  <a:txBody>
                    <a:bodyPr/>
                    <a:lstStyle/>
                    <a:p>
                      <a:pPr algn="ctr"/>
                      <a:r>
                        <a:rPr lang="en-IN" dirty="0"/>
                        <a:t>in1</a:t>
                      </a:r>
                    </a:p>
                  </a:txBody>
                  <a:tcPr/>
                </a:tc>
                <a:tc>
                  <a:txBody>
                    <a:bodyPr/>
                    <a:lstStyle/>
                    <a:p>
                      <a:pPr algn="ctr"/>
                      <a:r>
                        <a:rPr lang="en-IN" dirty="0"/>
                        <a:t>in2</a:t>
                      </a:r>
                    </a:p>
                  </a:txBody>
                  <a:tcPr/>
                </a:tc>
                <a:tc>
                  <a:txBody>
                    <a:bodyPr/>
                    <a:lstStyle/>
                    <a:p>
                      <a:pPr algn="ctr"/>
                      <a:r>
                        <a:rPr lang="en-IN" dirty="0"/>
                        <a:t>in3</a:t>
                      </a:r>
                    </a:p>
                  </a:txBody>
                  <a:tcPr/>
                </a:tc>
                <a:tc>
                  <a:txBody>
                    <a:bodyPr/>
                    <a:lstStyle/>
                    <a:p>
                      <a:pPr algn="ctr"/>
                      <a:r>
                        <a:rPr lang="en-IN" dirty="0"/>
                        <a:t>in4</a:t>
                      </a:r>
                    </a:p>
                  </a:txBody>
                  <a:tcPr/>
                </a:tc>
                <a:tc>
                  <a:txBody>
                    <a:bodyPr/>
                    <a:lstStyle/>
                    <a:p>
                      <a:pPr algn="ctr"/>
                      <a:r>
                        <a:rPr lang="en-IN" dirty="0"/>
                        <a:t>Out1</a:t>
                      </a:r>
                    </a:p>
                  </a:txBody>
                  <a:tcPr/>
                </a:tc>
                <a:tc>
                  <a:txBody>
                    <a:bodyPr/>
                    <a:lstStyle/>
                    <a:p>
                      <a:pPr algn="ctr"/>
                      <a:r>
                        <a:rPr lang="en-IN" dirty="0"/>
                        <a:t>Out2</a:t>
                      </a:r>
                    </a:p>
                  </a:txBody>
                  <a:tcPr/>
                </a:tc>
                <a:tc>
                  <a:txBody>
                    <a:bodyPr/>
                    <a:lstStyle/>
                    <a:p>
                      <a:pPr algn="ctr"/>
                      <a:r>
                        <a:rPr lang="en-IN" dirty="0"/>
                        <a:t>Out3</a:t>
                      </a:r>
                    </a:p>
                  </a:txBody>
                  <a:tcPr/>
                </a:tc>
                <a:tc>
                  <a:txBody>
                    <a:bodyPr/>
                    <a:lstStyle/>
                    <a:p>
                      <a:pPr algn="ctr"/>
                      <a:r>
                        <a:rPr lang="en-IN" dirty="0"/>
                        <a:t>Out4</a:t>
                      </a:r>
                    </a:p>
                  </a:txBody>
                  <a:tcPr/>
                </a:tc>
                <a:tc>
                  <a:txBody>
                    <a:bodyPr/>
                    <a:lstStyle/>
                    <a:p>
                      <a:pPr algn="ctr"/>
                      <a:r>
                        <a:rPr lang="en-IN" dirty="0"/>
                        <a:t>Direction</a:t>
                      </a:r>
                    </a:p>
                  </a:txBody>
                  <a:tcPr/>
                </a:tc>
                <a:extLst>
                  <a:ext uri="{0D108BD9-81ED-4DB2-BD59-A6C34878D82A}">
                    <a16:rowId xmlns:a16="http://schemas.microsoft.com/office/drawing/2014/main" val="4272884539"/>
                  </a:ext>
                </a:extLst>
              </a:tr>
              <a:tr h="356617">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FWD</a:t>
                      </a:r>
                    </a:p>
                  </a:txBody>
                  <a:tcPr/>
                </a:tc>
                <a:extLst>
                  <a:ext uri="{0D108BD9-81ED-4DB2-BD59-A6C34878D82A}">
                    <a16:rowId xmlns:a16="http://schemas.microsoft.com/office/drawing/2014/main" val="1443384892"/>
                  </a:ext>
                </a:extLst>
              </a:tr>
              <a:tr h="356617">
                <a:tc>
                  <a:txBody>
                    <a:bodyPr/>
                    <a:lstStyle/>
                    <a:p>
                      <a:pPr algn="ctr"/>
                      <a:r>
                        <a:rPr lang="en-IN" dirty="0"/>
                        <a:t>1</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RGT</a:t>
                      </a:r>
                    </a:p>
                  </a:txBody>
                  <a:tcPr/>
                </a:tc>
                <a:extLst>
                  <a:ext uri="{0D108BD9-81ED-4DB2-BD59-A6C34878D82A}">
                    <a16:rowId xmlns:a16="http://schemas.microsoft.com/office/drawing/2014/main" val="4070366898"/>
                  </a:ext>
                </a:extLst>
              </a:tr>
              <a:tr h="356617">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LFT</a:t>
                      </a:r>
                    </a:p>
                  </a:txBody>
                  <a:tcPr/>
                </a:tc>
                <a:extLst>
                  <a:ext uri="{0D108BD9-81ED-4DB2-BD59-A6C34878D82A}">
                    <a16:rowId xmlns:a16="http://schemas.microsoft.com/office/drawing/2014/main" val="1909217812"/>
                  </a:ext>
                </a:extLst>
              </a:tr>
              <a:tr h="356617">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a:t>
                      </a:r>
                      <a:r>
                        <a:rPr lang="en-IN" dirty="0" err="1"/>
                        <a:t>ve</a:t>
                      </a:r>
                      <a:endParaRPr lang="en-IN" dirty="0"/>
                    </a:p>
                  </a:txBody>
                  <a:tcPr/>
                </a:tc>
                <a:tc>
                  <a:txBody>
                    <a:bodyPr/>
                    <a:lstStyle/>
                    <a:p>
                      <a:pPr algn="ctr"/>
                      <a:r>
                        <a:rPr lang="en-IN" dirty="0"/>
                        <a:t>BWD</a:t>
                      </a:r>
                    </a:p>
                  </a:txBody>
                  <a:tcPr/>
                </a:tc>
                <a:extLst>
                  <a:ext uri="{0D108BD9-81ED-4DB2-BD59-A6C34878D82A}">
                    <a16:rowId xmlns:a16="http://schemas.microsoft.com/office/drawing/2014/main" val="2749624097"/>
                  </a:ext>
                </a:extLst>
              </a:tr>
              <a:tr h="356617">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NIL</a:t>
                      </a:r>
                    </a:p>
                  </a:txBody>
                  <a:tcPr/>
                </a:tc>
                <a:tc>
                  <a:txBody>
                    <a:bodyPr/>
                    <a:lstStyle/>
                    <a:p>
                      <a:pPr algn="ctr"/>
                      <a:r>
                        <a:rPr lang="en-IN" dirty="0"/>
                        <a:t>NIL</a:t>
                      </a:r>
                    </a:p>
                  </a:txBody>
                  <a:tcPr/>
                </a:tc>
                <a:tc>
                  <a:txBody>
                    <a:bodyPr/>
                    <a:lstStyle/>
                    <a:p>
                      <a:pPr algn="ctr"/>
                      <a:r>
                        <a:rPr lang="en-IN" dirty="0"/>
                        <a:t>NIL</a:t>
                      </a:r>
                    </a:p>
                  </a:txBody>
                  <a:tcPr/>
                </a:tc>
                <a:tc>
                  <a:txBody>
                    <a:bodyPr/>
                    <a:lstStyle/>
                    <a:p>
                      <a:pPr algn="ctr"/>
                      <a:r>
                        <a:rPr lang="en-IN" dirty="0"/>
                        <a:t>NIL</a:t>
                      </a:r>
                    </a:p>
                  </a:txBody>
                  <a:tcPr/>
                </a:tc>
                <a:tc>
                  <a:txBody>
                    <a:bodyPr/>
                    <a:lstStyle/>
                    <a:p>
                      <a:pPr algn="ctr"/>
                      <a:r>
                        <a:rPr lang="en-IN" dirty="0"/>
                        <a:t>STOP</a:t>
                      </a:r>
                    </a:p>
                  </a:txBody>
                  <a:tcPr/>
                </a:tc>
                <a:extLst>
                  <a:ext uri="{0D108BD9-81ED-4DB2-BD59-A6C34878D82A}">
                    <a16:rowId xmlns:a16="http://schemas.microsoft.com/office/drawing/2014/main" val="2704367357"/>
                  </a:ext>
                </a:extLst>
              </a:tr>
            </a:tbl>
          </a:graphicData>
        </a:graphic>
      </p:graphicFrame>
      <p:sp>
        <p:nvSpPr>
          <p:cNvPr id="3" name="TextBox 2">
            <a:extLst>
              <a:ext uri="{FF2B5EF4-FFF2-40B4-BE49-F238E27FC236}">
                <a16:creationId xmlns:a16="http://schemas.microsoft.com/office/drawing/2014/main" id="{ABB824F5-77CD-B692-2699-CB19D890AA79}"/>
              </a:ext>
            </a:extLst>
          </p:cNvPr>
          <p:cNvSpPr txBox="1"/>
          <p:nvPr/>
        </p:nvSpPr>
        <p:spPr>
          <a:xfrm>
            <a:off x="6521111" y="1051425"/>
            <a:ext cx="5027761" cy="1631216"/>
          </a:xfrm>
          <a:prstGeom prst="rect">
            <a:avLst/>
          </a:prstGeom>
          <a:noFill/>
        </p:spPr>
        <p:txBody>
          <a:bodyPr wrap="square" rtlCol="0">
            <a:spAutoFit/>
          </a:bodyPr>
          <a:lstStyle/>
          <a:p>
            <a:pPr marL="342900" indent="-342900">
              <a:buFont typeface="Arial" panose="020B0604020202020204" pitchFamily="34"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Diodes</a:t>
            </a:r>
            <a:r>
              <a:rPr lang="en-US" sz="2000" dirty="0">
                <a:latin typeface="Calibri" panose="020F0502020204030204" pitchFamily="34" charset="0"/>
                <a:ea typeface="Calibri" panose="020F0502020204030204" pitchFamily="34" charset="0"/>
                <a:cs typeface="Calibri" panose="020F0502020204030204" pitchFamily="34" charset="0"/>
              </a:rPr>
              <a:t> are used to protect the transistors and IC from back-EMF generated when the motors stop or change direction suddenly. They clamp negative voltage spikes to safe levels.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0C690BB5-ED0F-49D6-760B-D88B9B27C561}"/>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80073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3F2A4D21-D7BB-90B5-6051-2B78AE1BAA97}"/>
            </a:ext>
          </a:extLst>
        </p:cNvPr>
        <p:cNvGrpSpPr/>
        <p:nvPr/>
      </p:nvGrpSpPr>
      <p:grpSpPr>
        <a:xfrm>
          <a:off x="0" y="0"/>
          <a:ext cx="0" cy="0"/>
          <a:chOff x="0" y="0"/>
          <a:chExt cx="0" cy="0"/>
        </a:xfrm>
      </p:grpSpPr>
      <p:sp>
        <p:nvSpPr>
          <p:cNvPr id="186" name="Google Shape;186;p24">
            <a:extLst>
              <a:ext uri="{FF2B5EF4-FFF2-40B4-BE49-F238E27FC236}">
                <a16:creationId xmlns:a16="http://schemas.microsoft.com/office/drawing/2014/main" id="{B300E075-F49D-24EF-6758-856EF274246B}"/>
              </a:ext>
            </a:extLst>
          </p:cNvPr>
          <p:cNvSpPr txBox="1">
            <a:spLocks noGrp="1"/>
          </p:cNvSpPr>
          <p:nvPr>
            <p:ph type="title"/>
          </p:nvPr>
        </p:nvSpPr>
        <p:spPr>
          <a:xfrm>
            <a:off x="429325" y="396825"/>
            <a:ext cx="3921900" cy="654600"/>
          </a:xfrm>
          <a:prstGeom prst="rect">
            <a:avLst/>
          </a:prstGeom>
        </p:spPr>
        <p:txBody>
          <a:bodyPr spcFirstLastPara="1" wrap="square" lIns="121900" tIns="121900" rIns="121900" bIns="121900" anchor="ctr" anchorCtr="0">
            <a:normAutofit fontScale="90000"/>
          </a:bodyPr>
          <a:lstStyle/>
          <a:p>
            <a:pPr marL="0" lvl="0" indent="0" algn="l" rtl="0">
              <a:spcBef>
                <a:spcPts val="0"/>
              </a:spcBef>
              <a:spcAft>
                <a:spcPts val="0"/>
              </a:spcAft>
              <a:buNone/>
            </a:pPr>
            <a:r>
              <a:rPr lang="en-IN" sz="4400" b="0" dirty="0">
                <a:latin typeface="Arial"/>
                <a:ea typeface="Arial"/>
                <a:cs typeface="Arial"/>
                <a:sym typeface="Arial"/>
              </a:rPr>
              <a:t>1. Sensor input</a:t>
            </a:r>
            <a:endParaRPr lang="en-IN" dirty="0"/>
          </a:p>
        </p:txBody>
      </p:sp>
      <p:sp>
        <p:nvSpPr>
          <p:cNvPr id="187" name="Google Shape;187;p24">
            <a:extLst>
              <a:ext uri="{FF2B5EF4-FFF2-40B4-BE49-F238E27FC236}">
                <a16:creationId xmlns:a16="http://schemas.microsoft.com/office/drawing/2014/main" id="{239D3075-3132-C16F-9A04-5A0C207BE48A}"/>
              </a:ext>
            </a:extLst>
          </p:cNvPr>
          <p:cNvSpPr txBox="1"/>
          <p:nvPr/>
        </p:nvSpPr>
        <p:spPr>
          <a:xfrm>
            <a:off x="535183" y="1228406"/>
            <a:ext cx="11121633" cy="4857300"/>
          </a:xfrm>
          <a:prstGeom prst="rect">
            <a:avLst/>
          </a:prstGeom>
          <a:noFill/>
          <a:ln>
            <a:noFill/>
          </a:ln>
        </p:spPr>
        <p:txBody>
          <a:bodyPr spcFirstLastPara="1" wrap="square" lIns="91425" tIns="91425" rIns="91425" bIns="91425" anchor="t" anchorCtr="0">
            <a:noAutofit/>
          </a:bodyPr>
          <a:lstStyle/>
          <a:p>
            <a:pPr marL="342900" lvl="0" indent="-342900">
              <a:lnSpc>
                <a:spcPct val="114999"/>
              </a:lnSpc>
              <a:buAutoNum type="arabicPeriod"/>
            </a:pP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The Output of the tilt sensors are passed to the wheelchair(receiver) wirelessly through 4 channels through different modulating frequencies of carrier. </a:t>
            </a:r>
          </a:p>
          <a:p>
            <a:pPr marL="342900" lvl="0" indent="-342900">
              <a:lnSpc>
                <a:spcPct val="114999"/>
              </a:lnSpc>
              <a:buAutoNum type="arabicPeriod"/>
            </a:pP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The modulator used is FSK and it is transmitted using IR LED to transmit each bit. (4 bits in parallel)</a:t>
            </a:r>
          </a:p>
          <a:p>
            <a:pPr marL="342900" lvl="0" indent="-342900">
              <a:lnSpc>
                <a:spcPct val="114999"/>
              </a:lnSpc>
              <a:buAutoNum type="arabicPeriod"/>
            </a:pP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The modulated signal is received by the wheelchair using an IR receiver sensor. This sensor has inbuilt demodulator which recovers the message signal.</a:t>
            </a:r>
          </a:p>
          <a:p>
            <a:pPr marL="342900" lvl="0" indent="-342900">
              <a:lnSpc>
                <a:spcPct val="114999"/>
              </a:lnSpc>
              <a:buAutoNum type="arabicPeriod"/>
            </a:pP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The received signal is fed to the motor which control the movement of the wheels through a motor driver circuit consisting of L293D IC.</a:t>
            </a:r>
          </a:p>
          <a:p>
            <a:pPr marL="342900" lvl="0" indent="-342900">
              <a:lnSpc>
                <a:spcPct val="114999"/>
              </a:lnSpc>
              <a:buAutoNum type="arabicPeriod"/>
            </a:pPr>
            <a:r>
              <a:rPr lang="en-IN" sz="1800" dirty="0">
                <a:highlight>
                  <a:schemeClr val="lt1"/>
                </a:highlight>
                <a:latin typeface="Calibri" panose="020F0502020204030204" pitchFamily="34" charset="0"/>
                <a:ea typeface="Calibri" panose="020F0502020204030204" pitchFamily="34" charset="0"/>
                <a:cs typeface="Calibri" panose="020F0502020204030204" pitchFamily="34" charset="0"/>
              </a:rPr>
              <a:t>T</a:t>
            </a: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he L293D IC controls the direction of the wheel, by using a H-bridge configuration to control 2 DC motors – Left motor and right motor.</a:t>
            </a:r>
          </a:p>
          <a:p>
            <a:pPr marL="342900" lvl="0" indent="-342900">
              <a:lnSpc>
                <a:spcPct val="114999"/>
              </a:lnSpc>
              <a:buAutoNum type="arabicPeriod"/>
            </a:pP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The received signal is gated with the output of the fall detection circuit to operate the motors. The fall detection circuit detects the fall and this makes the motors to turn off and ring a buzzer as a call for help.</a:t>
            </a:r>
          </a:p>
          <a:p>
            <a:pPr marL="342900" lvl="0" indent="-342900">
              <a:lnSpc>
                <a:spcPct val="114999"/>
              </a:lnSpc>
              <a:buAutoNum type="arabicPeriod"/>
            </a:pP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Obstacle avoidance circuit is made using logic circuit from output from 5 IR sensors and all the possible combinations are considered and expressions of each motor is constructed. </a:t>
            </a:r>
            <a:r>
              <a:rPr lang="en-IN" sz="1800" dirty="0">
                <a:highlight>
                  <a:schemeClr val="lt1"/>
                </a:highlight>
                <a:latin typeface="Calibri" panose="020F0502020204030204" pitchFamily="34" charset="0"/>
                <a:ea typeface="Calibri" panose="020F0502020204030204" pitchFamily="34" charset="0"/>
                <a:cs typeface="Calibri" panose="020F0502020204030204" pitchFamily="34" charset="0"/>
              </a:rPr>
              <a:t>T</a:t>
            </a:r>
            <a:r>
              <a:rPr lang="en" sz="1800" dirty="0">
                <a:highlight>
                  <a:schemeClr val="lt1"/>
                </a:highlight>
                <a:latin typeface="Calibri" panose="020F0502020204030204" pitchFamily="34" charset="0"/>
                <a:ea typeface="Calibri" panose="020F0502020204030204" pitchFamily="34" charset="0"/>
                <a:cs typeface="Calibri" panose="020F0502020204030204" pitchFamily="34" charset="0"/>
              </a:rPr>
              <a:t>his output is given as the enable of the motor driver IC, which only enables the motor to be ON only if no obstacle is found. </a:t>
            </a:r>
          </a:p>
        </p:txBody>
      </p:sp>
      <p:sp>
        <p:nvSpPr>
          <p:cNvPr id="8" name="Rectangle 7">
            <a:extLst>
              <a:ext uri="{FF2B5EF4-FFF2-40B4-BE49-F238E27FC236}">
                <a16:creationId xmlns:a16="http://schemas.microsoft.com/office/drawing/2014/main" id="{2F786D19-4E2A-A17C-50F1-53F07DC1EC34}"/>
              </a:ext>
            </a:extLst>
          </p:cNvPr>
          <p:cNvSpPr/>
          <p:nvPr/>
        </p:nvSpPr>
        <p:spPr>
          <a:xfrm>
            <a:off x="438911" y="396824"/>
            <a:ext cx="11314178" cy="654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latin typeface="Poppins" panose="00000500000000000000" pitchFamily="2" charset="0"/>
                <a:cs typeface="Poppins" panose="00000500000000000000" pitchFamily="2" charset="0"/>
              </a:rPr>
              <a:t>6. Analysis of each stage</a:t>
            </a:r>
          </a:p>
        </p:txBody>
      </p:sp>
      <p:sp>
        <p:nvSpPr>
          <p:cNvPr id="2" name="Rectangle 1">
            <a:extLst>
              <a:ext uri="{FF2B5EF4-FFF2-40B4-BE49-F238E27FC236}">
                <a16:creationId xmlns:a16="http://schemas.microsoft.com/office/drawing/2014/main" id="{3AE6348B-6C2E-65FC-9718-2FFE26944D36}"/>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721372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B0E0AAE9-F27E-BA33-D2B4-D7BF297ECB18}"/>
            </a:ext>
          </a:extLst>
        </p:cNvPr>
        <p:cNvGrpSpPr/>
        <p:nvPr/>
      </p:nvGrpSpPr>
      <p:grpSpPr>
        <a:xfrm>
          <a:off x="0" y="0"/>
          <a:ext cx="0" cy="0"/>
          <a:chOff x="0" y="0"/>
          <a:chExt cx="0" cy="0"/>
        </a:xfrm>
      </p:grpSpPr>
      <p:sp>
        <p:nvSpPr>
          <p:cNvPr id="247" name="Google Shape;247;p29">
            <a:extLst>
              <a:ext uri="{FF2B5EF4-FFF2-40B4-BE49-F238E27FC236}">
                <a16:creationId xmlns:a16="http://schemas.microsoft.com/office/drawing/2014/main" id="{08F59AF5-6A9D-7D1F-1162-B04EF056AAAD}"/>
              </a:ext>
            </a:extLst>
          </p:cNvPr>
          <p:cNvSpPr txBox="1">
            <a:spLocks noGrp="1"/>
          </p:cNvSpPr>
          <p:nvPr>
            <p:ph type="title"/>
          </p:nvPr>
        </p:nvSpPr>
        <p:spPr>
          <a:xfrm>
            <a:off x="0" y="0"/>
            <a:ext cx="12192000" cy="763500"/>
          </a:xfrm>
          <a:prstGeom prst="rect">
            <a:avLst/>
          </a:prstGeom>
        </p:spPr>
        <p:txBody>
          <a:bodyPr spcFirstLastPara="1" wrap="square" lIns="121900" tIns="121900" rIns="121900" bIns="121900" anchor="t" anchorCtr="0">
            <a:noAutofit/>
          </a:bodyPr>
          <a:lstStyle/>
          <a:p>
            <a:pPr>
              <a:buSzPts val="990"/>
            </a:pPr>
            <a:r>
              <a:rPr lang="en" sz="3600" dirty="0"/>
              <a:t>8. References</a:t>
            </a:r>
          </a:p>
        </p:txBody>
      </p:sp>
      <p:sp>
        <p:nvSpPr>
          <p:cNvPr id="248" name="Google Shape;248;p29">
            <a:extLst>
              <a:ext uri="{FF2B5EF4-FFF2-40B4-BE49-F238E27FC236}">
                <a16:creationId xmlns:a16="http://schemas.microsoft.com/office/drawing/2014/main" id="{E6E8965D-3352-55AE-6892-85DCB781E380}"/>
              </a:ext>
            </a:extLst>
          </p:cNvPr>
          <p:cNvSpPr txBox="1">
            <a:spLocks noGrp="1"/>
          </p:cNvSpPr>
          <p:nvPr>
            <p:ph type="body" idx="1"/>
          </p:nvPr>
        </p:nvSpPr>
        <p:spPr>
          <a:xfrm>
            <a:off x="1255084" y="1846400"/>
            <a:ext cx="9681831" cy="4016106"/>
          </a:xfrm>
          <a:prstGeom prst="rect">
            <a:avLst/>
          </a:prstGeom>
        </p:spPr>
        <p:txBody>
          <a:bodyPr spcFirstLastPara="1" wrap="square" lIns="121900" tIns="121900" rIns="121900" bIns="121900" anchor="t" anchorCtr="0">
            <a:noAutofit/>
          </a:bodyPr>
          <a:lstStyle/>
          <a:p>
            <a:pPr fontAlgn="base"/>
            <a:r>
              <a:rPr lang="en-IN" sz="1500" b="1" dirty="0"/>
              <a:t>Satish Kumar, Dheeraj, Neeraj, and Sandeep Kumar, “Design and Development of Head Motion Controlled Wheelchair,” </a:t>
            </a:r>
            <a:r>
              <a:rPr lang="en-IN" sz="1500" b="1" i="1" dirty="0"/>
              <a:t>International Journal of Advances in Engineering &amp; Technology (IJAET)</a:t>
            </a:r>
            <a:r>
              <a:rPr lang="en-IN" sz="1500" b="1" dirty="0"/>
              <a:t>, vol. 8, no. 5, pp. 816–822, Oct. 2015. ISSN: 2231-1963. </a:t>
            </a:r>
            <a:r>
              <a:rPr lang="en-IN" sz="1500" b="1" dirty="0" err="1"/>
              <a:t>doi</a:t>
            </a:r>
            <a:r>
              <a:rPr lang="en-IN" sz="1500" b="1" dirty="0"/>
              <a:t>: 10.13140/RG.2.2.29123.71209 </a:t>
            </a:r>
            <a:r>
              <a:rPr lang="en-US" sz="1500" b="1" dirty="0"/>
              <a:t>​</a:t>
            </a:r>
            <a:r>
              <a:rPr lang="en-IN" sz="1500" b="1" dirty="0"/>
              <a:t>​</a:t>
            </a:r>
          </a:p>
          <a:p>
            <a:pPr fontAlgn="base"/>
            <a:r>
              <a:rPr lang="en-IN" sz="1500" b="1" dirty="0"/>
              <a:t>Dewan Mohammed Abdul Ahad, Dewan Mohammed Rashid, Md. Sajid Hossain." Low Cost Obstacle Avoidance Robot with Logic Gates and Gate Delay Calculations". </a:t>
            </a:r>
            <a:r>
              <a:rPr lang="en-US" sz="1500" b="1" dirty="0"/>
              <a:t>​</a:t>
            </a:r>
          </a:p>
          <a:p>
            <a:pPr marL="127000" indent="0" fontAlgn="base">
              <a:buNone/>
            </a:pPr>
            <a:r>
              <a:rPr lang="en-IN" sz="1500" b="1" dirty="0"/>
              <a:t>       Vol. 6, No. 1, 2018, pp. 1-7. </a:t>
            </a:r>
            <a:r>
              <a:rPr lang="en-IN" sz="1500" b="1" dirty="0" err="1"/>
              <a:t>doi</a:t>
            </a:r>
            <a:r>
              <a:rPr lang="en-IN" sz="1500" b="1" dirty="0"/>
              <a:t>: 10.11648/j.acis.20180601.11</a:t>
            </a:r>
            <a:r>
              <a:rPr lang="en-US" sz="1500" b="1" dirty="0"/>
              <a:t>​</a:t>
            </a:r>
            <a:endParaRPr lang="en-IN" sz="1500" b="1" dirty="0"/>
          </a:p>
          <a:p>
            <a:r>
              <a:rPr lang="en-IN" sz="1500" b="1" dirty="0"/>
              <a:t>“</a:t>
            </a:r>
            <a:r>
              <a:rPr lang="en-IN" sz="1500" b="1" dirty="0" err="1"/>
              <a:t>CircuitDigest</a:t>
            </a:r>
            <a:r>
              <a:rPr lang="en-IN" sz="1500" b="1" dirty="0"/>
              <a:t>,” </a:t>
            </a:r>
            <a:r>
              <a:rPr lang="en-IN" sz="1500" b="1" i="1" dirty="0"/>
              <a:t>Circuitdigest.com</a:t>
            </a:r>
            <a:r>
              <a:rPr lang="en-IN" sz="1500" b="1" dirty="0"/>
              <a:t>, Nov. 13, 2015. https://circuitdigest.com/electronic-circuits/ir-transmitter-and-receiver-circuit? (accessed Sep. 01, 2025).</a:t>
            </a:r>
            <a:endParaRPr lang="en-US" sz="1500" b="1" dirty="0"/>
          </a:p>
          <a:p>
            <a:r>
              <a:rPr lang="en-US" sz="1500" b="1" dirty="0"/>
              <a:t>admin, “Vibration Alarm Circuit using Timer IC 555,” </a:t>
            </a:r>
            <a:r>
              <a:rPr lang="en-US" sz="1500" b="1" i="1" dirty="0" err="1"/>
              <a:t>theoryCIRCUIT</a:t>
            </a:r>
            <a:r>
              <a:rPr lang="en-US" sz="1500" b="1" i="1" dirty="0"/>
              <a:t> - Do It Yourself Electronics Projects</a:t>
            </a:r>
            <a:r>
              <a:rPr lang="en-US" sz="1500" b="1" dirty="0"/>
              <a:t>, May 22, 2017. https://theorycircuit.com/ic-555-ic-741/vibration-alarm-circuit-using-timer-ic-555/? (accessed Sep. 01, 2025).</a:t>
            </a:r>
          </a:p>
          <a:p>
            <a:r>
              <a:rPr lang="en-US" sz="1500" b="1" dirty="0"/>
              <a:t>“Learn &amp; Make your own Cheap L293D motor Driver(A complete guide for l293D),” </a:t>
            </a:r>
            <a:r>
              <a:rPr lang="en-US" sz="1500" b="1" i="1" dirty="0"/>
              <a:t>Just4electronics</a:t>
            </a:r>
            <a:r>
              <a:rPr lang="en-US" sz="1500" b="1" dirty="0"/>
              <a:t>, Aug. 28, 2015. https://just4electronics.wordpress.com/2015/08/28/learn-make-your-own-cheap-l293d-motor-drivera-complete-guide-for-l293d/ (accessed Sep. 01, 2025).</a:t>
            </a:r>
          </a:p>
          <a:p>
            <a:endParaRPr lang="en-US" sz="1500" b="1" dirty="0"/>
          </a:p>
          <a:p>
            <a:endParaRPr lang="en-IN" sz="1500" b="1" dirty="0"/>
          </a:p>
          <a:p>
            <a:pPr marL="127000" indent="0" fontAlgn="base">
              <a:buNone/>
            </a:pPr>
            <a:endParaRPr lang="en-US" sz="1500" b="1" dirty="0"/>
          </a:p>
          <a:p>
            <a:pPr marL="0" lvl="0" indent="0" algn="l">
              <a:lnSpc>
                <a:spcPct val="114999"/>
              </a:lnSpc>
              <a:buNone/>
            </a:pPr>
            <a:endParaRPr lang="en" sz="1500" b="1" dirty="0"/>
          </a:p>
        </p:txBody>
      </p:sp>
      <p:sp>
        <p:nvSpPr>
          <p:cNvPr id="2" name="Rectangle 1">
            <a:extLst>
              <a:ext uri="{FF2B5EF4-FFF2-40B4-BE49-F238E27FC236}">
                <a16:creationId xmlns:a16="http://schemas.microsoft.com/office/drawing/2014/main" id="{D2776727-0DF7-D2DA-2D84-7AB27613E2F7}"/>
              </a:ext>
            </a:extLst>
          </p:cNvPr>
          <p:cNvSpPr/>
          <p:nvPr/>
        </p:nvSpPr>
        <p:spPr>
          <a:xfrm>
            <a:off x="0" y="5458968"/>
            <a:ext cx="301752" cy="139903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99809631"/>
      </p:ext>
    </p:extLst>
  </p:cSld>
  <p:clrMapOvr>
    <a:masterClrMapping/>
  </p:clrMapOvr>
</p:sld>
</file>

<file path=ppt/theme/theme1.xml><?xml version="1.0" encoding="utf-8"?>
<a:theme xmlns:a="http://schemas.openxmlformats.org/drawingml/2006/main" name="SlidesMania Template">
  <a:themeElements>
    <a:clrScheme name="Simple Light">
      <a:dk1>
        <a:srgbClr val="000000"/>
      </a:dk1>
      <a:lt1>
        <a:srgbClr val="F3F1EC"/>
      </a:lt1>
      <a:dk2>
        <a:srgbClr val="000000"/>
      </a:dk2>
      <a:lt2>
        <a:srgbClr val="EEEEEE"/>
      </a:lt2>
      <a:accent1>
        <a:srgbClr val="1C1B1A"/>
      </a:accent1>
      <a:accent2>
        <a:srgbClr val="6C6B68"/>
      </a:accent2>
      <a:accent3>
        <a:srgbClr val="A5A4A2"/>
      </a:accent3>
      <a:accent4>
        <a:srgbClr val="CDCCCA"/>
      </a:accent4>
      <a:accent5>
        <a:srgbClr val="F5F1EC"/>
      </a:accent5>
      <a:accent6>
        <a:srgbClr val="FFFFFF"/>
      </a:accent6>
      <a:hlink>
        <a:srgbClr val="A5A4A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1647</Words>
  <Application>Microsoft Office PowerPoint</Application>
  <PresentationFormat>Widescreen</PresentationFormat>
  <Paragraphs>155</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Calibri</vt:lpstr>
      <vt:lpstr>Arial,Sans-Serif</vt:lpstr>
      <vt:lpstr>Cambria Math</vt:lpstr>
      <vt:lpstr>Poppins</vt:lpstr>
      <vt:lpstr>Poppins Light</vt:lpstr>
      <vt:lpstr>Arial</vt:lpstr>
      <vt:lpstr>SlidesMania Template</vt:lpstr>
      <vt:lpstr>A Wireless Hand Gesture-Controlled Wheelchair For Differently Abled</vt:lpstr>
      <vt:lpstr>Objectives</vt:lpstr>
      <vt:lpstr>We will talk about this first.</vt:lpstr>
      <vt:lpstr>1. Sensor input</vt:lpstr>
      <vt:lpstr>2. Transmitter</vt:lpstr>
      <vt:lpstr>Calculations:</vt:lpstr>
      <vt:lpstr>1. Sensor input</vt:lpstr>
      <vt:lpstr>Calculations:</vt:lpstr>
      <vt:lpstr>1. Sensor input</vt:lpstr>
      <vt:lpstr>1. Sensor input</vt:lpstr>
      <vt:lpstr>1. Sensor input</vt:lpstr>
      <vt:lpstr>1. Sensor input</vt:lpstr>
      <vt:lpstr>1. Sensor input</vt:lpstr>
      <vt:lpstr>8.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SRUTHI</dc:creator>
  <cp:lastModifiedBy>Rithigaa Shree</cp:lastModifiedBy>
  <cp:revision>8</cp:revision>
  <dcterms:modified xsi:type="dcterms:W3CDTF">2025-10-10T13:31:34Z</dcterms:modified>
</cp:coreProperties>
</file>