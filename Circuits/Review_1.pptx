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  <p:sldMasterId id="2147483684" r:id="rId2"/>
  </p:sldMasterIdLst>
  <p:notesMasterIdLst>
    <p:notesMasterId r:id="rId11"/>
  </p:notesMasterIdLst>
  <p:sldIdLst>
    <p:sldId id="256" r:id="rId3"/>
    <p:sldId id="257" r:id="rId4"/>
    <p:sldId id="307" r:id="rId5"/>
    <p:sldId id="289" r:id="rId6"/>
    <p:sldId id="306" r:id="rId7"/>
    <p:sldId id="305" r:id="rId8"/>
    <p:sldId id="258" r:id="rId9"/>
    <p:sldId id="259" r:id="rId10"/>
  </p:sldIdLst>
  <p:sldSz cx="9144000" cy="5143500" type="screen16x9"/>
  <p:notesSz cx="6858000" cy="9144000"/>
  <p:embeddedFontLst>
    <p:embeddedFont>
      <p:font typeface="Montserrat ExtraLight" panose="00000300000000000000" pitchFamily="2" charset="0"/>
      <p:regular r:id="rId12"/>
      <p:bold r:id="rId13"/>
      <p:italic r:id="rId14"/>
      <p:boldItalic r:id="rId15"/>
    </p:embeddedFont>
    <p:embeddedFont>
      <p:font typeface="Montserrat Medium" panose="000006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8C6AB7-CAE6-DFD1-44BC-B96E8420E884}" v="9" dt="2025-10-10T11:55:27.260"/>
  </p1510:revLst>
</p1510:revInfo>
</file>

<file path=ppt/tableStyles.xml><?xml version="1.0" encoding="utf-8"?>
<a:tblStyleLst xmlns:a="http://schemas.openxmlformats.org/drawingml/2006/main" def="{8D4F08DE-6D24-479E-8324-55D2683E3C4A}">
  <a:tblStyle styleId="{8D4F08DE-6D24-479E-8324-55D2683E3C4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id="{F4AB8EA0-D5A4-8E00-451A-753F21239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7f9262ee2f_0_18:notes">
            <a:extLst>
              <a:ext uri="{FF2B5EF4-FFF2-40B4-BE49-F238E27FC236}">
                <a16:creationId xmlns:a16="http://schemas.microsoft.com/office/drawing/2014/main" id="{39003CBE-A58A-1522-FF74-0B0B3964BC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7f9262ee2f_0_18:notes">
            <a:extLst>
              <a:ext uri="{FF2B5EF4-FFF2-40B4-BE49-F238E27FC236}">
                <a16:creationId xmlns:a16="http://schemas.microsoft.com/office/drawing/2014/main" id="{7FDF724B-4641-E6AF-60AF-E826573252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9799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4" name="Google Shape;2194;g7f9262ee2f_0_12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5" name="Google Shape;2195;g7f9262ee2f_0_12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3">
          <a:extLst>
            <a:ext uri="{FF2B5EF4-FFF2-40B4-BE49-F238E27FC236}">
              <a16:creationId xmlns:a16="http://schemas.microsoft.com/office/drawing/2014/main" id="{B9190ECB-1BAE-134C-C214-AEF4142EE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4" name="Google Shape;2194;g7f9262ee2f_0_12262:notes">
            <a:extLst>
              <a:ext uri="{FF2B5EF4-FFF2-40B4-BE49-F238E27FC236}">
                <a16:creationId xmlns:a16="http://schemas.microsoft.com/office/drawing/2014/main" id="{8D4FB74A-B97D-4C21-B139-CB3FA9F6BC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5" name="Google Shape;2195;g7f9262ee2f_0_12262:notes">
            <a:extLst>
              <a:ext uri="{FF2B5EF4-FFF2-40B4-BE49-F238E27FC236}">
                <a16:creationId xmlns:a16="http://schemas.microsoft.com/office/drawing/2014/main" id="{BBA35755-CC6E-55B4-782B-134BF436AA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3696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3">
          <a:extLst>
            <a:ext uri="{FF2B5EF4-FFF2-40B4-BE49-F238E27FC236}">
              <a16:creationId xmlns:a16="http://schemas.microsoft.com/office/drawing/2014/main" id="{4781907C-2D2B-1905-5D09-178CBCF93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4" name="Google Shape;2194;g7f9262ee2f_0_12262:notes">
            <a:extLst>
              <a:ext uri="{FF2B5EF4-FFF2-40B4-BE49-F238E27FC236}">
                <a16:creationId xmlns:a16="http://schemas.microsoft.com/office/drawing/2014/main" id="{83328E1F-F68D-B5A9-28CD-A475BA053A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5" name="Google Shape;2195;g7f9262ee2f_0_12262:notes">
            <a:extLst>
              <a:ext uri="{FF2B5EF4-FFF2-40B4-BE49-F238E27FC236}">
                <a16:creationId xmlns:a16="http://schemas.microsoft.com/office/drawing/2014/main" id="{B66EA7F1-4ABE-463A-05D0-225DC5F474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22266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7f9262ee2f_0_26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7f9262ee2f_0_26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7290233416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7290233416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effectLst>
            <a:outerShdw blurRad="114300" dist="28575" dir="636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title"/>
          </p:nvPr>
        </p:nvSpPr>
        <p:spPr>
          <a:xfrm>
            <a:off x="5337175" y="1297125"/>
            <a:ext cx="2837400" cy="125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body" idx="1"/>
          </p:nvPr>
        </p:nvSpPr>
        <p:spPr>
          <a:xfrm>
            <a:off x="5337175" y="2593875"/>
            <a:ext cx="2837400" cy="12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929477" y="436183"/>
            <a:ext cx="2746500" cy="40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pic>
        <p:nvPicPr>
          <p:cNvPr id="29" name="Google Shape;2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3278924" y="414050"/>
            <a:ext cx="7626551" cy="288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4822414" y="-351911"/>
            <a:ext cx="9309797" cy="352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subTitle" idx="1"/>
          </p:nvPr>
        </p:nvSpPr>
        <p:spPr>
          <a:xfrm>
            <a:off x="938500" y="1769575"/>
            <a:ext cx="28716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body" idx="2"/>
          </p:nvPr>
        </p:nvSpPr>
        <p:spPr>
          <a:xfrm>
            <a:off x="4703375" y="909600"/>
            <a:ext cx="3468900" cy="3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32238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>
            <a:spLocks noGrp="1"/>
          </p:cNvSpPr>
          <p:nvPr>
            <p:ph type="title" hasCustomPrompt="1"/>
          </p:nvPr>
        </p:nvSpPr>
        <p:spPr>
          <a:xfrm>
            <a:off x="1920750" y="1634425"/>
            <a:ext cx="5302500" cy="11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1"/>
          </p:nvPr>
        </p:nvSpPr>
        <p:spPr>
          <a:xfrm>
            <a:off x="2786550" y="3094475"/>
            <a:ext cx="3570900" cy="5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2pPr>
            <a:lvl3pPr marL="1371600" lvl="2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3pPr>
            <a:lvl4pPr marL="1828800" lvl="3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4pPr>
            <a:lvl5pPr marL="2286000" lvl="4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5pPr>
            <a:lvl6pPr marL="2743200" lvl="5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6pPr>
            <a:lvl7pPr marL="3200400" lvl="6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7pPr>
            <a:lvl8pPr marL="3657600" lvl="7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8pPr>
            <a:lvl9pPr marL="4114800" lvl="8" indent="-34290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CAPTION_ONLY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162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1pPr>
            <a:lvl2pPr marL="914400" lvl="1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2pPr>
            <a:lvl3pPr marL="1371600" lvl="2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3pPr>
            <a:lvl4pPr marL="1828800" lvl="3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4pPr>
            <a:lvl5pPr marL="2286000" lvl="4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5pPr>
            <a:lvl6pPr marL="2743200" lvl="5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6pPr>
            <a:lvl7pPr marL="3200400" lvl="6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7pPr>
            <a:lvl8pPr marL="3657600" lvl="7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8pPr>
            <a:lvl9pPr marL="4114800" lvl="8" indent="-301625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subTitle" idx="1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title" idx="2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ubTitle" idx="3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title" idx="4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subTitle" idx="5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title" idx="6" hasCustomPrompt="1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4"/>
          <p:cNvSpPr txBox="1">
            <a:spLocks noGrp="1"/>
          </p:cNvSpPr>
          <p:nvPr>
            <p:ph type="title" idx="7" hasCustomPrompt="1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4"/>
          <p:cNvSpPr txBox="1">
            <a:spLocks noGrp="1"/>
          </p:cNvSpPr>
          <p:nvPr>
            <p:ph type="title" idx="8" hasCustomPrompt="1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ctrTitle"/>
          </p:nvPr>
        </p:nvSpPr>
        <p:spPr>
          <a:xfrm>
            <a:off x="4285500" y="2832875"/>
            <a:ext cx="3657300" cy="644700"/>
          </a:xfrm>
          <a:prstGeom prst="rect">
            <a:avLst/>
          </a:prstGeom>
          <a:effectLst>
            <a:outerShdw blurRad="57150" dist="19050" dir="5400000" algn="bl" rotWithShape="0">
              <a:srgbClr val="76A5AF">
                <a:alpha val="88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subTitle" idx="1"/>
          </p:nvPr>
        </p:nvSpPr>
        <p:spPr>
          <a:xfrm>
            <a:off x="4144050" y="3549850"/>
            <a:ext cx="394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>
            <a:spLocks noGrp="1"/>
          </p:cNvSpPr>
          <p:nvPr>
            <p:ph type="ctrTitle"/>
          </p:nvPr>
        </p:nvSpPr>
        <p:spPr>
          <a:xfrm>
            <a:off x="1850525" y="1157925"/>
            <a:ext cx="5442900" cy="26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subTitle" idx="1"/>
          </p:nvPr>
        </p:nvSpPr>
        <p:spPr>
          <a:xfrm>
            <a:off x="2481900" y="3945600"/>
            <a:ext cx="418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wo Columns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>
            <a:spLocks noGrp="1"/>
          </p:cNvSpPr>
          <p:nvPr>
            <p:ph type="title"/>
          </p:nvPr>
        </p:nvSpPr>
        <p:spPr>
          <a:xfrm>
            <a:off x="1937338" y="2463175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subTitle" idx="1"/>
          </p:nvPr>
        </p:nvSpPr>
        <p:spPr>
          <a:xfrm>
            <a:off x="1937338" y="3148075"/>
            <a:ext cx="239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title" idx="2"/>
          </p:nvPr>
        </p:nvSpPr>
        <p:spPr>
          <a:xfrm>
            <a:off x="4816563" y="2463175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ubTitle" idx="3"/>
          </p:nvPr>
        </p:nvSpPr>
        <p:spPr>
          <a:xfrm>
            <a:off x="4816563" y="3148075"/>
            <a:ext cx="239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 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>
            <a:spLocks noGrp="1"/>
          </p:cNvSpPr>
          <p:nvPr>
            <p:ph type="title"/>
          </p:nvPr>
        </p:nvSpPr>
        <p:spPr>
          <a:xfrm>
            <a:off x="3538497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subTitle" idx="1"/>
          </p:nvPr>
        </p:nvSpPr>
        <p:spPr>
          <a:xfrm>
            <a:off x="3538497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title" idx="2"/>
          </p:nvPr>
        </p:nvSpPr>
        <p:spPr>
          <a:xfrm>
            <a:off x="6028553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subTitle" idx="3"/>
          </p:nvPr>
        </p:nvSpPr>
        <p:spPr>
          <a:xfrm>
            <a:off x="6028553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title" idx="5"/>
          </p:nvPr>
        </p:nvSpPr>
        <p:spPr>
          <a:xfrm>
            <a:off x="1048447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ubTitle" idx="6"/>
          </p:nvPr>
        </p:nvSpPr>
        <p:spPr>
          <a:xfrm>
            <a:off x="1048447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>
  <p:cSld name="TITLE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ctrTitle"/>
          </p:nvPr>
        </p:nvSpPr>
        <p:spPr>
          <a:xfrm>
            <a:off x="1273500" y="1369000"/>
            <a:ext cx="6597000" cy="21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ubTitle" idx="1"/>
          </p:nvPr>
        </p:nvSpPr>
        <p:spPr>
          <a:xfrm>
            <a:off x="2481900" y="2519525"/>
            <a:ext cx="418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CAPTION_ONL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1">
  <p:cSld name="CAPTION_ONLY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2">
  <p:cSld name="CAPTION_ONLY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3">
  <p:cSld name="CAPTION_ONLY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wo Lists">
  <p:cSld name="SECTION_TITLE_AND_DESCRIPTION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body" idx="1"/>
          </p:nvPr>
        </p:nvSpPr>
        <p:spPr>
          <a:xfrm>
            <a:off x="1067241" y="2651775"/>
            <a:ext cx="3258900" cy="17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body" idx="2"/>
          </p:nvPr>
        </p:nvSpPr>
        <p:spPr>
          <a:xfrm>
            <a:off x="4673852" y="2651775"/>
            <a:ext cx="3258900" cy="17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24"/>
          <p:cNvSpPr txBox="1">
            <a:spLocks noGrp="1"/>
          </p:cNvSpPr>
          <p:nvPr>
            <p:ph type="title" idx="3"/>
          </p:nvPr>
        </p:nvSpPr>
        <p:spPr>
          <a:xfrm>
            <a:off x="1213499" y="1955125"/>
            <a:ext cx="32589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24"/>
          <p:cNvSpPr txBox="1">
            <a:spLocks noGrp="1"/>
          </p:cNvSpPr>
          <p:nvPr>
            <p:ph type="title" idx="4"/>
          </p:nvPr>
        </p:nvSpPr>
        <p:spPr>
          <a:xfrm>
            <a:off x="4820099" y="1955125"/>
            <a:ext cx="32589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TITLE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5"/>
          <p:cNvSpPr txBox="1">
            <a:spLocks noGrp="1"/>
          </p:cNvSpPr>
          <p:nvPr>
            <p:ph type="title" idx="2"/>
          </p:nvPr>
        </p:nvSpPr>
        <p:spPr>
          <a:xfrm>
            <a:off x="898386" y="3052625"/>
            <a:ext cx="16716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25"/>
          <p:cNvSpPr txBox="1">
            <a:spLocks noGrp="1"/>
          </p:cNvSpPr>
          <p:nvPr>
            <p:ph type="subTitle" idx="1"/>
          </p:nvPr>
        </p:nvSpPr>
        <p:spPr>
          <a:xfrm>
            <a:off x="898389" y="3558837"/>
            <a:ext cx="1671600" cy="11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title" idx="3"/>
          </p:nvPr>
        </p:nvSpPr>
        <p:spPr>
          <a:xfrm>
            <a:off x="2790261" y="3052625"/>
            <a:ext cx="16716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25"/>
          <p:cNvSpPr txBox="1">
            <a:spLocks noGrp="1"/>
          </p:cNvSpPr>
          <p:nvPr>
            <p:ph type="subTitle" idx="4"/>
          </p:nvPr>
        </p:nvSpPr>
        <p:spPr>
          <a:xfrm>
            <a:off x="2790264" y="3558837"/>
            <a:ext cx="1671600" cy="11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25"/>
          <p:cNvSpPr txBox="1">
            <a:spLocks noGrp="1"/>
          </p:cNvSpPr>
          <p:nvPr>
            <p:ph type="title" idx="5"/>
          </p:nvPr>
        </p:nvSpPr>
        <p:spPr>
          <a:xfrm>
            <a:off x="4682136" y="3052625"/>
            <a:ext cx="16716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subTitle" idx="6"/>
          </p:nvPr>
        </p:nvSpPr>
        <p:spPr>
          <a:xfrm>
            <a:off x="4682139" y="3558837"/>
            <a:ext cx="1671600" cy="11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title" idx="7"/>
          </p:nvPr>
        </p:nvSpPr>
        <p:spPr>
          <a:xfrm>
            <a:off x="6574011" y="3052625"/>
            <a:ext cx="16716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ubTitle" idx="8"/>
          </p:nvPr>
        </p:nvSpPr>
        <p:spPr>
          <a:xfrm>
            <a:off x="6574014" y="3558837"/>
            <a:ext cx="1671600" cy="11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Numbers">
  <p:cSld name="CAPTION_ONLY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>
            <a:spLocks noGrp="1"/>
          </p:cNvSpPr>
          <p:nvPr>
            <p:ph type="title" hasCustomPrompt="1"/>
          </p:nvPr>
        </p:nvSpPr>
        <p:spPr>
          <a:xfrm>
            <a:off x="4996800" y="661843"/>
            <a:ext cx="31593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26"/>
          <p:cNvSpPr txBox="1">
            <a:spLocks noGrp="1"/>
          </p:cNvSpPr>
          <p:nvPr>
            <p:ph type="subTitle" idx="1"/>
          </p:nvPr>
        </p:nvSpPr>
        <p:spPr>
          <a:xfrm>
            <a:off x="4911000" y="1265850"/>
            <a:ext cx="3330900" cy="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26"/>
          <p:cNvSpPr txBox="1">
            <a:spLocks noGrp="1"/>
          </p:cNvSpPr>
          <p:nvPr>
            <p:ph type="title" idx="2" hasCustomPrompt="1"/>
          </p:nvPr>
        </p:nvSpPr>
        <p:spPr>
          <a:xfrm>
            <a:off x="4996800" y="2099193"/>
            <a:ext cx="31593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26"/>
          <p:cNvSpPr txBox="1">
            <a:spLocks noGrp="1"/>
          </p:cNvSpPr>
          <p:nvPr>
            <p:ph type="subTitle" idx="3"/>
          </p:nvPr>
        </p:nvSpPr>
        <p:spPr>
          <a:xfrm>
            <a:off x="4911000" y="2703200"/>
            <a:ext cx="3330900" cy="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title" idx="4" hasCustomPrompt="1"/>
          </p:nvPr>
        </p:nvSpPr>
        <p:spPr>
          <a:xfrm>
            <a:off x="4996800" y="3536543"/>
            <a:ext cx="31593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26"/>
          <p:cNvSpPr txBox="1">
            <a:spLocks noGrp="1"/>
          </p:cNvSpPr>
          <p:nvPr>
            <p:ph type="subTitle" idx="5"/>
          </p:nvPr>
        </p:nvSpPr>
        <p:spPr>
          <a:xfrm>
            <a:off x="4911000" y="4140550"/>
            <a:ext cx="3330900" cy="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ix Columns  ">
  <p:cSld name="SECTION_TITLE_AND_DESCRIPTION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7"/>
          <p:cNvSpPr txBox="1">
            <a:spLocks noGrp="1"/>
          </p:cNvSpPr>
          <p:nvPr>
            <p:ph type="title"/>
          </p:nvPr>
        </p:nvSpPr>
        <p:spPr>
          <a:xfrm>
            <a:off x="3538497" y="1818541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27"/>
          <p:cNvSpPr txBox="1">
            <a:spLocks noGrp="1"/>
          </p:cNvSpPr>
          <p:nvPr>
            <p:ph type="subTitle" idx="1"/>
          </p:nvPr>
        </p:nvSpPr>
        <p:spPr>
          <a:xfrm>
            <a:off x="3538498" y="2324765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27"/>
          <p:cNvSpPr txBox="1">
            <a:spLocks noGrp="1"/>
          </p:cNvSpPr>
          <p:nvPr>
            <p:ph type="title" idx="2"/>
          </p:nvPr>
        </p:nvSpPr>
        <p:spPr>
          <a:xfrm>
            <a:off x="6028553" y="1818541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27"/>
          <p:cNvSpPr txBox="1">
            <a:spLocks noGrp="1"/>
          </p:cNvSpPr>
          <p:nvPr>
            <p:ph type="subTitle" idx="3"/>
          </p:nvPr>
        </p:nvSpPr>
        <p:spPr>
          <a:xfrm>
            <a:off x="6028552" y="2324765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27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title" idx="5"/>
          </p:nvPr>
        </p:nvSpPr>
        <p:spPr>
          <a:xfrm>
            <a:off x="1048447" y="1818541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27"/>
          <p:cNvSpPr txBox="1">
            <a:spLocks noGrp="1"/>
          </p:cNvSpPr>
          <p:nvPr>
            <p:ph type="subTitle" idx="6"/>
          </p:nvPr>
        </p:nvSpPr>
        <p:spPr>
          <a:xfrm>
            <a:off x="1048450" y="2324765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27"/>
          <p:cNvSpPr txBox="1">
            <a:spLocks noGrp="1"/>
          </p:cNvSpPr>
          <p:nvPr>
            <p:ph type="title" idx="7"/>
          </p:nvPr>
        </p:nvSpPr>
        <p:spPr>
          <a:xfrm>
            <a:off x="3538497" y="332503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27"/>
          <p:cNvSpPr txBox="1">
            <a:spLocks noGrp="1"/>
          </p:cNvSpPr>
          <p:nvPr>
            <p:ph type="subTitle" idx="8"/>
          </p:nvPr>
        </p:nvSpPr>
        <p:spPr>
          <a:xfrm>
            <a:off x="3538498" y="3831259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title" idx="9"/>
          </p:nvPr>
        </p:nvSpPr>
        <p:spPr>
          <a:xfrm>
            <a:off x="6028553" y="332503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ubTitle" idx="13"/>
          </p:nvPr>
        </p:nvSpPr>
        <p:spPr>
          <a:xfrm>
            <a:off x="6028552" y="3831259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0" name="Google Shape;120;p27"/>
          <p:cNvSpPr txBox="1">
            <a:spLocks noGrp="1"/>
          </p:cNvSpPr>
          <p:nvPr>
            <p:ph type="title" idx="14"/>
          </p:nvPr>
        </p:nvSpPr>
        <p:spPr>
          <a:xfrm>
            <a:off x="1048447" y="332503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1" name="Google Shape;121;p27"/>
          <p:cNvSpPr txBox="1">
            <a:spLocks noGrp="1"/>
          </p:cNvSpPr>
          <p:nvPr>
            <p:ph type="subTitle" idx="15"/>
          </p:nvPr>
        </p:nvSpPr>
        <p:spPr>
          <a:xfrm>
            <a:off x="1048450" y="3831259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 1">
  <p:cSld name="TITLE_1_1_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0436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28"/>
          <p:cNvSpPr txBox="1">
            <a:spLocks noGrp="1"/>
          </p:cNvSpPr>
          <p:nvPr>
            <p:ph type="title" idx="2"/>
          </p:nvPr>
        </p:nvSpPr>
        <p:spPr>
          <a:xfrm>
            <a:off x="1338238" y="2359825"/>
            <a:ext cx="2727600" cy="3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5" name="Google Shape;125;p28"/>
          <p:cNvSpPr txBox="1">
            <a:spLocks noGrp="1"/>
          </p:cNvSpPr>
          <p:nvPr>
            <p:ph type="subTitle" idx="1"/>
          </p:nvPr>
        </p:nvSpPr>
        <p:spPr>
          <a:xfrm>
            <a:off x="1338238" y="1713051"/>
            <a:ext cx="2727600" cy="6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28"/>
          <p:cNvSpPr txBox="1">
            <a:spLocks noGrp="1"/>
          </p:cNvSpPr>
          <p:nvPr>
            <p:ph type="title" idx="3"/>
          </p:nvPr>
        </p:nvSpPr>
        <p:spPr>
          <a:xfrm>
            <a:off x="1338238" y="3988950"/>
            <a:ext cx="2727600" cy="3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7" name="Google Shape;127;p28"/>
          <p:cNvSpPr txBox="1">
            <a:spLocks noGrp="1"/>
          </p:cNvSpPr>
          <p:nvPr>
            <p:ph type="subTitle" idx="4"/>
          </p:nvPr>
        </p:nvSpPr>
        <p:spPr>
          <a:xfrm>
            <a:off x="1338238" y="3342176"/>
            <a:ext cx="2727600" cy="6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28"/>
          <p:cNvSpPr txBox="1">
            <a:spLocks noGrp="1"/>
          </p:cNvSpPr>
          <p:nvPr>
            <p:ph type="title" idx="5"/>
          </p:nvPr>
        </p:nvSpPr>
        <p:spPr>
          <a:xfrm>
            <a:off x="5078163" y="2359825"/>
            <a:ext cx="2727600" cy="3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28"/>
          <p:cNvSpPr txBox="1">
            <a:spLocks noGrp="1"/>
          </p:cNvSpPr>
          <p:nvPr>
            <p:ph type="subTitle" idx="6"/>
          </p:nvPr>
        </p:nvSpPr>
        <p:spPr>
          <a:xfrm>
            <a:off x="5078163" y="1713051"/>
            <a:ext cx="2727600" cy="6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0" name="Google Shape;130;p28"/>
          <p:cNvSpPr txBox="1">
            <a:spLocks noGrp="1"/>
          </p:cNvSpPr>
          <p:nvPr>
            <p:ph type="title" idx="7"/>
          </p:nvPr>
        </p:nvSpPr>
        <p:spPr>
          <a:xfrm>
            <a:off x="5078163" y="3988950"/>
            <a:ext cx="2727600" cy="3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1" name="Google Shape;131;p28"/>
          <p:cNvSpPr txBox="1">
            <a:spLocks noGrp="1"/>
          </p:cNvSpPr>
          <p:nvPr>
            <p:ph type="subTitle" idx="8"/>
          </p:nvPr>
        </p:nvSpPr>
        <p:spPr>
          <a:xfrm>
            <a:off x="5078163" y="3342176"/>
            <a:ext cx="2727600" cy="6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>
  <p:cSld name="SECTION_TITLE_AND_DESCRIPTION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>
            <a:spLocks noGrp="1"/>
          </p:cNvSpPr>
          <p:nvPr>
            <p:ph type="subTitle" idx="1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29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TITLE_ONL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7" name="Google Shape;137;p30"/>
          <p:cNvSpPr txBox="1">
            <a:spLocks noGrp="1"/>
          </p:cNvSpPr>
          <p:nvPr>
            <p:ph type="subTitle" idx="1"/>
          </p:nvPr>
        </p:nvSpPr>
        <p:spPr>
          <a:xfrm>
            <a:off x="938500" y="2435925"/>
            <a:ext cx="2556300" cy="20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CAPTION_ONLY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31"/>
          <p:cNvSpPr txBox="1">
            <a:spLocks noGrp="1"/>
          </p:cNvSpPr>
          <p:nvPr>
            <p:ph type="subTitle" idx="1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">
  <p:cSld name="SECTION_HEADER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2"/>
          <p:cNvSpPr txBox="1">
            <a:spLocks noGrp="1"/>
          </p:cNvSpPr>
          <p:nvPr>
            <p:ph type="title"/>
          </p:nvPr>
        </p:nvSpPr>
        <p:spPr>
          <a:xfrm>
            <a:off x="2062800" y="2442050"/>
            <a:ext cx="50184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32"/>
          <p:cNvSpPr txBox="1">
            <a:spLocks noGrp="1"/>
          </p:cNvSpPr>
          <p:nvPr>
            <p:ph type="subTitle" idx="1"/>
          </p:nvPr>
        </p:nvSpPr>
        <p:spPr>
          <a:xfrm>
            <a:off x="2896500" y="3391325"/>
            <a:ext cx="3351000" cy="11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+ Credits">
  <p:cSld name="SECTION_HEAD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3"/>
          <p:cNvSpPr txBox="1">
            <a:spLocks noGrp="1"/>
          </p:cNvSpPr>
          <p:nvPr>
            <p:ph type="title"/>
          </p:nvPr>
        </p:nvSpPr>
        <p:spPr>
          <a:xfrm>
            <a:off x="924870" y="760375"/>
            <a:ext cx="30687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33"/>
          <p:cNvSpPr txBox="1">
            <a:spLocks noGrp="1"/>
          </p:cNvSpPr>
          <p:nvPr>
            <p:ph type="subTitle" idx="1"/>
          </p:nvPr>
        </p:nvSpPr>
        <p:spPr>
          <a:xfrm>
            <a:off x="924875" y="1684275"/>
            <a:ext cx="3305400" cy="10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33"/>
          <p:cNvSpPr txBox="1"/>
          <p:nvPr/>
        </p:nvSpPr>
        <p:spPr>
          <a:xfrm>
            <a:off x="924875" y="3570000"/>
            <a:ext cx="33054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CREDITS: This presentation template was created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including icons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and infographics &amp; images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 1">
  <p:cSld name="SECTION_TITLE_AND_DESCRIPTION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0" name="Google Shape;150;p34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list">
  <p:cSld name="TITLE_AND_TWO_COLUMNS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3" name="Google Shape;153;p35"/>
          <p:cNvSpPr txBox="1">
            <a:spLocks noGrp="1"/>
          </p:cNvSpPr>
          <p:nvPr>
            <p:ph type="body" idx="1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6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56" name="Google Shape;156;p36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88/1755-1315/166/1/012033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 txBox="1">
            <a:spLocks noGrp="1"/>
          </p:cNvSpPr>
          <p:nvPr>
            <p:ph type="ctrTitle"/>
          </p:nvPr>
        </p:nvSpPr>
        <p:spPr>
          <a:xfrm>
            <a:off x="468544" y="1535763"/>
            <a:ext cx="8214055" cy="1394794"/>
          </a:xfrm>
          <a:prstGeom prst="rect">
            <a:avLst/>
          </a:prstGeom>
          <a:effectLst>
            <a:outerShdw blurRad="142875" dist="19050" dir="87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>
                <a:latin typeface="Times New Roman"/>
              </a:rPr>
              <a:t>A Wireless Hand Gesture-Controlled Wheelchair For Differently Abled</a:t>
            </a:r>
            <a:endParaRPr lang="en-US">
              <a:latin typeface="Times New Roman"/>
            </a:endParaRPr>
          </a:p>
        </p:txBody>
      </p:sp>
      <p:sp>
        <p:nvSpPr>
          <p:cNvPr id="163" name="Google Shape;163;p38"/>
          <p:cNvSpPr txBox="1">
            <a:spLocks noGrp="1"/>
          </p:cNvSpPr>
          <p:nvPr>
            <p:ph type="subTitle" idx="1"/>
          </p:nvPr>
        </p:nvSpPr>
        <p:spPr>
          <a:xfrm>
            <a:off x="2044200" y="3326031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sz="1600" b="1">
                <a:latin typeface="Times New Roman"/>
              </a:rPr>
              <a:t>Group Members</a:t>
            </a:r>
            <a:endParaRPr lang="en-US" sz="1600" b="1">
              <a:latin typeface="Times New Roman"/>
            </a:endParaRPr>
          </a:p>
          <a:p>
            <a:pPr marL="0" indent="0"/>
            <a:endParaRPr lang="en" sz="1600" b="1">
              <a:latin typeface="Times New Roman"/>
            </a:endParaRPr>
          </a:p>
          <a:p>
            <a:pPr marL="0" indent="0"/>
            <a:r>
              <a:rPr lang="en" sz="1600" b="1">
                <a:latin typeface="Times New Roman"/>
              </a:rPr>
              <a:t>Sahithi I                           - CB.EN.U4ECE23121</a:t>
            </a:r>
            <a:endParaRPr lang="en-US" sz="1600" b="1">
              <a:latin typeface="Times New Roman"/>
            </a:endParaRPr>
          </a:p>
          <a:p>
            <a:pPr marL="0" indent="0"/>
            <a:r>
              <a:rPr lang="en" sz="1600" b="1" err="1">
                <a:latin typeface="Times New Roman"/>
              </a:rPr>
              <a:t>Rithigaa</a:t>
            </a:r>
            <a:r>
              <a:rPr lang="en" sz="1600" b="1">
                <a:latin typeface="Times New Roman"/>
              </a:rPr>
              <a:t> Shree T             - CB.EN.U4ECE23132</a:t>
            </a:r>
          </a:p>
          <a:p>
            <a:pPr marL="0" indent="0"/>
            <a:r>
              <a:rPr lang="en" sz="1600" b="1">
                <a:latin typeface="Times New Roman"/>
              </a:rPr>
              <a:t>Sruthi Sakthivel              - CB.EN.U4ECE23143</a:t>
            </a:r>
          </a:p>
        </p:txBody>
      </p:sp>
      <p:sp>
        <p:nvSpPr>
          <p:cNvPr id="164" name="Google Shape;164;p38"/>
          <p:cNvSpPr txBox="1">
            <a:spLocks noGrp="1"/>
          </p:cNvSpPr>
          <p:nvPr>
            <p:ph type="ctrTitle"/>
          </p:nvPr>
        </p:nvSpPr>
        <p:spPr>
          <a:xfrm>
            <a:off x="2177269" y="581263"/>
            <a:ext cx="4417987" cy="464700"/>
          </a:xfrm>
          <a:prstGeom prst="rect">
            <a:avLst/>
          </a:prstGeom>
          <a:effectLst>
            <a:outerShdw blurRad="100013" dist="19050" dir="84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2400">
                <a:latin typeface="Times New Roman"/>
                <a:cs typeface="Times New Roman"/>
                <a:sym typeface="Montserrat ExtraLight"/>
              </a:rPr>
              <a:t>23ECE381 - Open Lab Review 1</a:t>
            </a:r>
            <a:endParaRPr lang="en-US">
              <a:sym typeface="Montserrat ExtraLight"/>
            </a:endParaRP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" sz="2200" b="0">
              <a:latin typeface="Montserrat ExtraLight"/>
              <a:ea typeface="Montserrat ExtraLight"/>
              <a:cs typeface="Montserrat Extra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Google Shape;171;p39"/>
          <p:cNvSpPr txBox="1">
            <a:spLocks noGrp="1"/>
          </p:cNvSpPr>
          <p:nvPr>
            <p:ph type="body" idx="1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cs typeface="Times New Roman"/>
              </a:rPr>
              <a:t>To develop a low-cost wheelchair control system using tilt switches for hand gesture input, enabling users with limited mobility to navigate easily.</a:t>
            </a:r>
          </a:p>
          <a:p>
            <a:pPr marL="171450" lvl="0" indent="-171450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cs typeface="Times New Roman"/>
              </a:rPr>
              <a:t> To design a wireless transmission system using NE555 timer ICs, transistors, and LC circuits, avoiding microcontrollers entirely.</a:t>
            </a:r>
          </a:p>
          <a:p>
            <a:pPr marL="171450" lvl="0" indent="-171450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cs typeface="Times New Roman"/>
              </a:rPr>
              <a:t> To process gesture inputs through diode logic circuits and transmit them wirelessly to the receiver unit.</a:t>
            </a:r>
          </a:p>
          <a:p>
            <a:pPr marL="171450" lvl="0" indent="-171450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cs typeface="Times New Roman"/>
              </a:rPr>
              <a:t>To implement obstacle avoidance using IR sensors and process signals with logic gates to control motor response automatically.</a:t>
            </a:r>
          </a:p>
          <a:p>
            <a:pPr marL="171450" lvl="0" indent="-171450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cs typeface="Times New Roman"/>
              </a:rPr>
              <a:t> To include a fall detection unit using tilt/vibration sensors and logic-based interruption to halt motor operation during instability</a:t>
            </a:r>
            <a:r>
              <a:rPr lang="en-US" sz="1400">
                <a:latin typeface="Times New Roman"/>
              </a:rPr>
              <a:t>.</a:t>
            </a:r>
          </a:p>
        </p:txBody>
      </p:sp>
      <p:cxnSp>
        <p:nvCxnSpPr>
          <p:cNvPr id="172" name="Google Shape;172;p39"/>
          <p:cNvCxnSpPr/>
          <p:nvPr/>
        </p:nvCxnSpPr>
        <p:spPr>
          <a:xfrm>
            <a:off x="1047766" y="974739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1B6FE8EB-0FB0-1520-BFF8-90A079DEF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06;p43">
            <a:extLst>
              <a:ext uri="{FF2B5EF4-FFF2-40B4-BE49-F238E27FC236}">
                <a16:creationId xmlns:a16="http://schemas.microsoft.com/office/drawing/2014/main" id="{D4287388-CC65-51CC-A167-9DFB9F171F86}"/>
              </a:ext>
            </a:extLst>
          </p:cNvPr>
          <p:cNvSpPr txBox="1">
            <a:spLocks/>
          </p:cNvSpPr>
          <p:nvPr/>
        </p:nvSpPr>
        <p:spPr>
          <a:xfrm>
            <a:off x="2114945" y="-2801"/>
            <a:ext cx="5714823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en-US" sz="2400"/>
              <a:t>Methodology – Block Diagram</a:t>
            </a:r>
          </a:p>
        </p:txBody>
      </p:sp>
      <p:pic>
        <p:nvPicPr>
          <p:cNvPr id="2" name="Picture 1" descr="A diagram of a circuit&#10;&#10;AI-generated content may be incorrect.">
            <a:extLst>
              <a:ext uri="{FF2B5EF4-FFF2-40B4-BE49-F238E27FC236}">
                <a16:creationId xmlns:a16="http://schemas.microsoft.com/office/drawing/2014/main" id="{005E5F40-7C99-A057-CAC1-677D4FBB5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3945" y="591419"/>
            <a:ext cx="9245773" cy="456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096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2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BFDC445-AB76-9BD1-2D86-99950E8D1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421947"/>
              </p:ext>
            </p:extLst>
          </p:nvPr>
        </p:nvGraphicFramePr>
        <p:xfrm>
          <a:off x="0" y="1"/>
          <a:ext cx="9143999" cy="5143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4767">
                  <a:extLst>
                    <a:ext uri="{9D8B030D-6E8A-4147-A177-3AD203B41FA5}">
                      <a16:colId xmlns:a16="http://schemas.microsoft.com/office/drawing/2014/main" val="2990822498"/>
                    </a:ext>
                  </a:extLst>
                </a:gridCol>
                <a:gridCol w="1769093">
                  <a:extLst>
                    <a:ext uri="{9D8B030D-6E8A-4147-A177-3AD203B41FA5}">
                      <a16:colId xmlns:a16="http://schemas.microsoft.com/office/drawing/2014/main" val="1328367633"/>
                    </a:ext>
                  </a:extLst>
                </a:gridCol>
                <a:gridCol w="1881018">
                  <a:extLst>
                    <a:ext uri="{9D8B030D-6E8A-4147-A177-3AD203B41FA5}">
                      <a16:colId xmlns:a16="http://schemas.microsoft.com/office/drawing/2014/main" val="2330594259"/>
                    </a:ext>
                  </a:extLst>
                </a:gridCol>
                <a:gridCol w="2639121">
                  <a:extLst>
                    <a:ext uri="{9D8B030D-6E8A-4147-A177-3AD203B41FA5}">
                      <a16:colId xmlns:a16="http://schemas.microsoft.com/office/drawing/2014/main" val="2600366801"/>
                    </a:ext>
                  </a:extLst>
                </a:gridCol>
              </a:tblGrid>
              <a:tr h="996665">
                <a:tc rowSpan="2"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PAPER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4553258"/>
                  </a:ext>
                </a:extLst>
              </a:tr>
              <a:tr h="783093">
                <a:tc vMerge="1">
                  <a:txBody>
                    <a:bodyPr/>
                    <a:lstStyle/>
                    <a:p>
                      <a:pPr algn="ctr"/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PUBLISHED BY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PUBLISHED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613168"/>
                  </a:ext>
                </a:extLst>
              </a:tr>
              <a:tr h="3363742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and Development of </a:t>
                      </a:r>
                    </a:p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 Motion Controlled Wheelchair</a:t>
                      </a:r>
                      <a:endParaRPr lang="en-IN" sz="140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 Journal of Advances in Engineering &amp; Technology (IJAET</a:t>
                      </a:r>
                      <a:r>
                        <a:rPr lang="en-US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 sz="160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bg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sensors detect head movement by changing internal contact states, giving 0 V when tilted and 5 V when idle via a voltage divider.</a:t>
                      </a:r>
                    </a:p>
                    <a:p>
                      <a:pPr marL="285750" indent="-285750">
                        <a:buClr>
                          <a:schemeClr val="bg1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Clr>
                          <a:schemeClr val="bg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Diode logic processes these outputs to produce direction-specific control signals.</a:t>
                      </a:r>
                    </a:p>
                    <a:p>
                      <a:pPr marL="285750" indent="-285750">
                        <a:buClr>
                          <a:schemeClr val="bg1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60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268472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2196">
          <a:extLst>
            <a:ext uri="{FF2B5EF4-FFF2-40B4-BE49-F238E27FC236}">
              <a16:creationId xmlns:a16="http://schemas.microsoft.com/office/drawing/2014/main" id="{60B6F40B-AE59-4537-99F0-4F3B058C9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AFFEE14-57EB-80F7-9993-7F804EC8B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175704"/>
              </p:ext>
            </p:extLst>
          </p:nvPr>
        </p:nvGraphicFramePr>
        <p:xfrm>
          <a:off x="-7143" y="7143"/>
          <a:ext cx="9145537" cy="51345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11825">
                  <a:extLst>
                    <a:ext uri="{9D8B030D-6E8A-4147-A177-3AD203B41FA5}">
                      <a16:colId xmlns:a16="http://schemas.microsoft.com/office/drawing/2014/main" val="2990822498"/>
                    </a:ext>
                  </a:extLst>
                </a:gridCol>
                <a:gridCol w="1753476">
                  <a:extLst>
                    <a:ext uri="{9D8B030D-6E8A-4147-A177-3AD203B41FA5}">
                      <a16:colId xmlns:a16="http://schemas.microsoft.com/office/drawing/2014/main" val="1328367633"/>
                    </a:ext>
                  </a:extLst>
                </a:gridCol>
                <a:gridCol w="1701290">
                  <a:extLst>
                    <a:ext uri="{9D8B030D-6E8A-4147-A177-3AD203B41FA5}">
                      <a16:colId xmlns:a16="http://schemas.microsoft.com/office/drawing/2014/main" val="2330594259"/>
                    </a:ext>
                  </a:extLst>
                </a:gridCol>
                <a:gridCol w="2778946">
                  <a:extLst>
                    <a:ext uri="{9D8B030D-6E8A-4147-A177-3AD203B41FA5}">
                      <a16:colId xmlns:a16="http://schemas.microsoft.com/office/drawing/2014/main" val="2600366801"/>
                    </a:ext>
                  </a:extLst>
                </a:gridCol>
              </a:tblGrid>
              <a:tr h="996115">
                <a:tc rowSpan="2"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NAME OF THE PAPER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SOURCE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4553258"/>
                  </a:ext>
                </a:extLst>
              </a:tr>
              <a:tr h="778783">
                <a:tc vMerge="1">
                  <a:txBody>
                    <a:bodyPr/>
                    <a:lstStyle/>
                    <a:p>
                      <a:pPr algn="ctr"/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PUBLISHED BY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YEAR PUBLISHED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613168"/>
                  </a:ext>
                </a:extLst>
              </a:tr>
              <a:tr h="3359634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Simple Design of Transmitter Circuit and Optimization Design of Receiver Circuit for Wireless Power Transfer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0" i="0" u="none" strike="noStrike" noProof="0">
                        <a:solidFill>
                          <a:schemeClr val="bg1"/>
                        </a:solidFill>
                      </a:endParaRPr>
                    </a:p>
                    <a:p>
                      <a:pPr lvl="0" algn="ctr">
                        <a:buNone/>
                      </a:pPr>
                      <a:endParaRPr lang="en-US" sz="16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IOP Publishing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2018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  <a:p>
                      <a:pPr lvl="0" algn="ctr">
                        <a:buNone/>
                      </a:pPr>
                      <a:endParaRPr lang="en-IN" sz="1400" b="0" i="0" u="none" strike="noStrike" noProof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IN" sz="1400" b="0" i="0" u="none" strike="noStrike" noProof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LC tank circuit transmits this frequency wirelessly via magnetic induction.</a:t>
                      </a:r>
                      <a:endParaRPr lang="en-US" b="0">
                        <a:latin typeface="Times New Roman"/>
                        <a:cs typeface="Times New Roman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None/>
                      </a:pPr>
                      <a:endParaRPr lang="en-IN" sz="1400" b="0" i="0" u="none" strike="noStrike" noProof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IN" sz="1400" b="0" i="0" u="none" strike="noStrike" baseline="0" noProof="0">
                          <a:solidFill>
                            <a:srgbClr val="FFFFFF"/>
                          </a:solidFill>
                          <a:latin typeface="Times New Roman"/>
                        </a:rPr>
                        <a:t>Receiver LC tank picks up the transmitted frequency.</a:t>
                      </a:r>
                      <a:endParaRPr lang="en-US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None/>
                      </a:pPr>
                      <a:endParaRPr lang="en-IN" sz="1400" b="0" i="0" u="none" strike="noStrike" baseline="0" noProof="0">
                        <a:solidFill>
                          <a:srgbClr val="FFFFFF"/>
                        </a:solidFill>
                        <a:latin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IN" sz="1400" b="0" i="0" u="none" strike="noStrike" baseline="0" noProof="0">
                          <a:solidFill>
                            <a:srgbClr val="FFFFFF"/>
                          </a:solidFill>
                          <a:latin typeface="Times New Roman"/>
                        </a:rPr>
                        <a:t>The signal is rectified, filtered, and decoded to identify the gesture.</a:t>
                      </a:r>
                      <a:endParaRPr lang="en-IN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Font typeface="Arial"/>
                        <a:buChar char="•"/>
                      </a:pPr>
                      <a:endParaRPr lang="en-IN" sz="1400" b="0" i="0" u="none" strike="noStrike" noProof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Font typeface="Arial"/>
                        <a:buChar char="•"/>
                      </a:pPr>
                      <a:endParaRPr lang="en-IN" sz="1400" b="0" i="0" u="none" strike="noStrike" noProof="0">
                        <a:solidFill>
                          <a:schemeClr val="bg1"/>
                        </a:solidFill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0" i="0" u="none" strike="noStrike" noProof="0">
                        <a:solidFill>
                          <a:schemeClr val="bg1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26847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32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2196">
          <a:extLst>
            <a:ext uri="{FF2B5EF4-FFF2-40B4-BE49-F238E27FC236}">
              <a16:creationId xmlns:a16="http://schemas.microsoft.com/office/drawing/2014/main" id="{6D2C9589-6824-C3A2-0F0D-C4C369511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C2640B5-91BF-A4BA-07CF-F7E2D52FC6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001768"/>
              </p:ext>
            </p:extLst>
          </p:nvPr>
        </p:nvGraphicFramePr>
        <p:xfrm>
          <a:off x="0" y="0"/>
          <a:ext cx="9126270" cy="51434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49233">
                  <a:extLst>
                    <a:ext uri="{9D8B030D-6E8A-4147-A177-3AD203B41FA5}">
                      <a16:colId xmlns:a16="http://schemas.microsoft.com/office/drawing/2014/main" val="2990822498"/>
                    </a:ext>
                  </a:extLst>
                </a:gridCol>
                <a:gridCol w="1765663">
                  <a:extLst>
                    <a:ext uri="{9D8B030D-6E8A-4147-A177-3AD203B41FA5}">
                      <a16:colId xmlns:a16="http://schemas.microsoft.com/office/drawing/2014/main" val="1328367633"/>
                    </a:ext>
                  </a:extLst>
                </a:gridCol>
                <a:gridCol w="1713114">
                  <a:extLst>
                    <a:ext uri="{9D8B030D-6E8A-4147-A177-3AD203B41FA5}">
                      <a16:colId xmlns:a16="http://schemas.microsoft.com/office/drawing/2014/main" val="2330594259"/>
                    </a:ext>
                  </a:extLst>
                </a:gridCol>
                <a:gridCol w="2798260">
                  <a:extLst>
                    <a:ext uri="{9D8B030D-6E8A-4147-A177-3AD203B41FA5}">
                      <a16:colId xmlns:a16="http://schemas.microsoft.com/office/drawing/2014/main" val="2600366801"/>
                    </a:ext>
                  </a:extLst>
                </a:gridCol>
              </a:tblGrid>
              <a:tr h="916578">
                <a:tc rowSpan="2"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NAME OF THE PAPER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4553258"/>
                  </a:ext>
                </a:extLst>
              </a:tr>
              <a:tr h="720801">
                <a:tc vMerge="1">
                  <a:txBody>
                    <a:bodyPr/>
                    <a:lstStyle/>
                    <a:p>
                      <a:pPr algn="ctr"/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PUBLISHED BY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YEAR PUBLISHED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613168"/>
                  </a:ext>
                </a:extLst>
              </a:tr>
              <a:tr h="3506116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Low Cost Obstacle Avoidance Robot with Logic Gates and Gate Delay Calculations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  <a:p>
                      <a:pPr lvl="0" algn="ctr">
                        <a:buNone/>
                      </a:pPr>
                      <a:endParaRPr lang="en-US" sz="16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Automation, Control and Intelligent Systems, Science Publishing Group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400" b="0" i="0" u="none" strike="noStrike" noProof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2018</a:t>
                      </a:r>
                      <a:endParaRPr lang="en-IN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Font typeface="Arial"/>
                        <a:buChar char="•"/>
                      </a:pPr>
                      <a:r>
                        <a:rPr lang="en-IN" sz="1400" b="0" i="0" u="none" strike="noStrike" noProof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IR sensors detect obstacles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noProof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     and send binary signals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noProof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     (1 = detected, 0 = clear).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Font typeface="Arial"/>
                        <a:buNone/>
                      </a:pPr>
                      <a:endParaRPr lang="en-US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Font typeface="Arial"/>
                        <a:buChar char="•"/>
                      </a:pPr>
                      <a:r>
                        <a:rPr lang="en-IN" sz="1400" b="0" i="0" u="none" strike="noStrike" noProof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Signals are processed using AND, OR, and NOT gates to form logic equations.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Font typeface="Arial"/>
                        <a:buChar char="•"/>
                      </a:pPr>
                      <a:endParaRPr lang="en-IN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Font typeface="Arial"/>
                        <a:buChar char="•"/>
                      </a:pPr>
                      <a:r>
                        <a:rPr lang="en-IN" sz="1400" b="0" i="0" u="none" strike="noStrike" noProof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Logic outputs control the motor driver IC.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Font typeface="Arial"/>
                        <a:buChar char="•"/>
                      </a:pPr>
                      <a:endParaRPr lang="en-IN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Font typeface="Arial"/>
                        <a:buChar char="•"/>
                      </a:pPr>
                      <a:r>
                        <a:rPr lang="en-IN" sz="1400" b="0" i="0" u="none" strike="noStrike" noProof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Motor driver enables the robot to move left, right, forward, or stop based on obstacle positions.</a:t>
                      </a:r>
                      <a:endParaRPr lang="en-IN" b="0">
                        <a:latin typeface="Times New Roman"/>
                        <a:cs typeface="Times New Roman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0" i="0" u="none" strike="noStrike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26847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5039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"/>
          <p:cNvSpPr txBox="1">
            <a:spLocks noGrp="1"/>
          </p:cNvSpPr>
          <p:nvPr>
            <p:ph type="title" idx="6"/>
          </p:nvPr>
        </p:nvSpPr>
        <p:spPr>
          <a:xfrm>
            <a:off x="469712" y="757096"/>
            <a:ext cx="3339396" cy="7778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References:</a:t>
            </a:r>
          </a:p>
        </p:txBody>
      </p:sp>
      <p:sp>
        <p:nvSpPr>
          <p:cNvPr id="184" name="Google Shape;184;p40"/>
          <p:cNvSpPr txBox="1">
            <a:spLocks noGrp="1"/>
          </p:cNvSpPr>
          <p:nvPr>
            <p:ph type="subTitle" idx="5"/>
          </p:nvPr>
        </p:nvSpPr>
        <p:spPr>
          <a:xfrm>
            <a:off x="466164" y="1735499"/>
            <a:ext cx="8375066" cy="29280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algn="l">
              <a:buAutoNum type="arabicPeriod"/>
            </a:pPr>
            <a:endParaRPr lang="en"/>
          </a:p>
          <a:p>
            <a:pPr marL="342900" algn="l">
              <a:buAutoNum type="arabicPeriod"/>
            </a:pPr>
            <a:r>
              <a:rPr lang="en">
                <a:solidFill>
                  <a:schemeClr val="bg1"/>
                </a:solidFill>
              </a:rPr>
              <a:t>Satish Kumar, Dheeraj, Neeraj, and Sandeep Kumar, “Design and Development of Head Motion Controlled Wheelchair,” </a:t>
            </a:r>
            <a:r>
              <a:rPr lang="en" i="1">
                <a:solidFill>
                  <a:schemeClr val="bg1"/>
                </a:solidFill>
              </a:rPr>
              <a:t>International Journal of Advances in Engineering &amp; Technology (IJAET)</a:t>
            </a:r>
            <a:r>
              <a:rPr lang="en">
                <a:solidFill>
                  <a:schemeClr val="bg1"/>
                </a:solidFill>
              </a:rPr>
              <a:t>, vol. 8, no. 5, pp. 816–822, Oct. 2015. ISSN: 2231-1963. </a:t>
            </a:r>
            <a:r>
              <a:rPr lang="en" err="1">
                <a:solidFill>
                  <a:schemeClr val="bg1"/>
                </a:solidFill>
              </a:rPr>
              <a:t>doi</a:t>
            </a:r>
            <a:r>
              <a:rPr lang="en">
                <a:solidFill>
                  <a:schemeClr val="bg1"/>
                </a:solidFill>
              </a:rPr>
              <a:t>: 10.13140/RG.2.2.29123.71209 </a:t>
            </a:r>
          </a:p>
          <a:p>
            <a:pPr marL="342900" algn="l">
              <a:buAutoNum type="arabicPeriod"/>
            </a:pPr>
            <a:endParaRPr lang="en">
              <a:solidFill>
                <a:schemeClr val="bg1"/>
              </a:solidFill>
            </a:endParaRPr>
          </a:p>
          <a:p>
            <a:pPr marL="342900" algn="l">
              <a:buAutoNum type="arabicPeriod"/>
            </a:pPr>
            <a:r>
              <a:rPr lang="en">
                <a:solidFill>
                  <a:schemeClr val="bg1"/>
                </a:solidFill>
              </a:rPr>
              <a:t>I. Sukma, S. W. Hidayat, A. R. Hidayat and I. </a:t>
            </a:r>
            <a:r>
              <a:rPr lang="en" err="1">
                <a:solidFill>
                  <a:schemeClr val="bg1"/>
                </a:solidFill>
              </a:rPr>
              <a:t>Supono</a:t>
            </a:r>
            <a:r>
              <a:rPr lang="en">
                <a:solidFill>
                  <a:schemeClr val="bg1"/>
                </a:solidFill>
              </a:rPr>
              <a:t>, "Simple Design of Transmitter Circuit and Optimization Design of Receiver Circuit for Wireless Power Transfer," </a:t>
            </a:r>
            <a:r>
              <a:rPr lang="en" i="1">
                <a:solidFill>
                  <a:schemeClr val="bg1"/>
                </a:solidFill>
              </a:rPr>
              <a:t>IOP Conf. Ser.: Earth Environ. Sci.</a:t>
            </a:r>
            <a:r>
              <a:rPr lang="en">
                <a:solidFill>
                  <a:schemeClr val="bg1"/>
                </a:solidFill>
              </a:rPr>
              <a:t>, vol. 166, p. 012033, 2018. </a:t>
            </a:r>
            <a:r>
              <a:rPr lang="en" err="1">
                <a:solidFill>
                  <a:schemeClr val="bg1"/>
                </a:solidFill>
              </a:rPr>
              <a:t>doi</a:t>
            </a:r>
            <a:r>
              <a:rPr lang="en">
                <a:solidFill>
                  <a:schemeClr val="bg1"/>
                </a:solidFill>
              </a:rPr>
              <a:t>: </a:t>
            </a:r>
            <a:r>
              <a:rPr lang="en">
                <a:solidFill>
                  <a:srgbClr val="001633"/>
                </a:solidFill>
                <a:hlinkClick r:id="rId3"/>
              </a:rPr>
              <a:t>10.1088/1755-1315/166/1/012033</a:t>
            </a:r>
            <a:endParaRPr lang="en-US">
              <a:solidFill>
                <a:srgbClr val="001633"/>
              </a:solidFill>
            </a:endParaRPr>
          </a:p>
          <a:p>
            <a:pPr marL="342900" algn="l">
              <a:buAutoNum type="arabicPeriod"/>
            </a:pPr>
            <a:endParaRPr lang="en">
              <a:solidFill>
                <a:schemeClr val="bg1"/>
              </a:solidFill>
            </a:endParaRPr>
          </a:p>
          <a:p>
            <a:pPr marL="342900" algn="l">
              <a:buAutoNum type="arabicPeriod"/>
            </a:pPr>
            <a:r>
              <a:rPr lang="en">
                <a:solidFill>
                  <a:schemeClr val="bg1"/>
                </a:solidFill>
              </a:rPr>
              <a:t>Dewan Mohammed Abdul Ahad, Dewan Mohammed Rashid, Md. Sajid Hossain." Low Cost Obstacle Avoidance Robot with Logic Gates and Gate Delay Calculations". </a:t>
            </a:r>
          </a:p>
          <a:p>
            <a:pPr marL="114300" indent="0" algn="l"/>
            <a:r>
              <a:rPr lang="en">
                <a:solidFill>
                  <a:schemeClr val="bg1"/>
                </a:solidFill>
              </a:rPr>
              <a:t>      Vol. 6, No. 1, 2018, pp. 1-7. </a:t>
            </a:r>
            <a:r>
              <a:rPr lang="en" err="1">
                <a:solidFill>
                  <a:schemeClr val="bg1"/>
                </a:solidFill>
              </a:rPr>
              <a:t>doi</a:t>
            </a:r>
            <a:r>
              <a:rPr lang="en">
                <a:solidFill>
                  <a:schemeClr val="bg1"/>
                </a:solidFill>
              </a:rPr>
              <a:t>: 10.11648/j.acis.20180601.11</a:t>
            </a:r>
          </a:p>
          <a:p>
            <a:pPr marL="114300" indent="0" algn="l"/>
            <a:endParaRPr lang="en">
              <a:solidFill>
                <a:schemeClr val="bg1"/>
              </a:solidFill>
            </a:endParaRPr>
          </a:p>
        </p:txBody>
      </p:sp>
      <p:cxnSp>
        <p:nvCxnSpPr>
          <p:cNvPr id="187" name="Google Shape;187;p40"/>
          <p:cNvCxnSpPr/>
          <p:nvPr/>
        </p:nvCxnSpPr>
        <p:spPr>
          <a:xfrm>
            <a:off x="1085407" y="1532556"/>
            <a:ext cx="1464718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1"/>
          <p:cNvSpPr txBox="1">
            <a:spLocks noGrp="1"/>
          </p:cNvSpPr>
          <p:nvPr>
            <p:ph type="ctrTitle"/>
          </p:nvPr>
        </p:nvSpPr>
        <p:spPr>
          <a:xfrm>
            <a:off x="2447433" y="2871490"/>
            <a:ext cx="670015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8</Slides>
  <Notes>8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Futuristic Background by Slidesgo</vt:lpstr>
      <vt:lpstr>Slidesgo Final Pages</vt:lpstr>
      <vt:lpstr>A Wireless Hand Gesture-Controlled Wheelchair For Differently Abled</vt:lpstr>
      <vt:lpstr>OBJECTIVES</vt:lpstr>
      <vt:lpstr>PowerPoint Presentation</vt:lpstr>
      <vt:lpstr>PowerPoint Presentation</vt:lpstr>
      <vt:lpstr>PowerPoint Presentation</vt:lpstr>
      <vt:lpstr>PowerPoint Presentation</vt:lpstr>
      <vt:lpstr>References: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11</cp:revision>
  <dcterms:modified xsi:type="dcterms:W3CDTF">2025-10-10T11:56:03Z</dcterms:modified>
</cp:coreProperties>
</file>